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A5C"/>
                </a:solidFill>
                <a:latin typeface="Calibri"/>
              </a:defRPr>
            </a:pPr>
            <a:r>
              <a:t>Hypothesis-Driven Algorithm Discovery on OpenEvolve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Three actors, one loop, no human in the loop during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3611880" cy="370332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148C"/>
                </a:solidFill>
                <a:latin typeface="Calibri"/>
              </a:defRPr>
            </a:pPr>
            <a:r>
              <a:t>THE LLM  (Claude)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1">
                <a:solidFill>
                  <a:srgbClr val="666666"/>
                </a:solidFill>
                <a:latin typeface="Calibri"/>
              </a:defRPr>
            </a:pPr>
            <a:r>
              <a:t>Scientist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000" b="1">
                <a:solidFill>
                  <a:srgbClr val="4A148C"/>
                </a:solidFill>
                <a:latin typeface="Calibri"/>
              </a:defRPr>
            </a:pPr>
            <a:r>
              <a:t>What it does: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Reads what worked / failed before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(the "knowledge base")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Proposes a new hypothesis: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"If I route small requests by load,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  cache_warmup should drop below 5000 ms"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Writes the code that implements it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Embeds the hypothesis as a comment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right inside the code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6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000" b="1">
                <a:solidFill>
                  <a:srgbClr val="4A148C"/>
                </a:solidFill>
                <a:latin typeface="Calibri"/>
              </a:defRPr>
            </a:pPr>
            <a:r>
              <a:t>When: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Every iteration (called by OpenEvolve)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097280"/>
            <a:ext cx="3611880" cy="370332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THE EVALUATOR  (simulator)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1">
                <a:solidFill>
                  <a:srgbClr val="666666"/>
                </a:solidFill>
                <a:latin typeface="Calibri"/>
              </a:defRPr>
            </a:pPr>
            <a:r>
              <a:t>Experimentalist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000" b="1">
                <a:solidFill>
                  <a:srgbClr val="C62828"/>
                </a:solidFill>
                <a:latin typeface="Calibri"/>
              </a:defRPr>
            </a:pPr>
            <a:r>
              <a:t>What it does: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Takes the LLM's code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Compiles it into a Go binary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Runs 3 experiments (workloads):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cache_warmup, load_spikes, multiturn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Measures latency on each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Checks: did the hypothesis come true?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(actual vs. predicted threshold)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Records verdict: CONFIRMED or REFUTED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6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000" b="1">
                <a:solidFill>
                  <a:srgbClr val="C62828"/>
                </a:solidFill>
                <a:latin typeface="Calibri"/>
              </a:defRPr>
            </a:pPr>
            <a:r>
              <a:t>When: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Every iteration (called by OpenEvolve)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097280"/>
            <a:ext cx="3611880" cy="3703320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6A9F"/>
                </a:solidFill>
                <a:latin typeface="Calibri"/>
              </a:defRPr>
            </a:pPr>
            <a:r>
              <a:t>OPENEVOLVE  (framework)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1100" b="1">
                <a:solidFill>
                  <a:srgbClr val="666666"/>
                </a:solidFill>
                <a:latin typeface="Calibri"/>
              </a:defRPr>
            </a:pPr>
            <a:r>
              <a:t>Lab Manager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000" b="1">
                <a:solidFill>
                  <a:srgbClr val="2D6A9F"/>
                </a:solidFill>
                <a:latin typeface="Calibri"/>
              </a:defRPr>
            </a:pPr>
            <a:r>
              <a:t>What it does: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Picks which program to improve next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Hands the LLM the right context: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best programs, past results,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accumulated knowledge base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Calls the LLM, then the evaluator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Stores results in a population DB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Keeps 3 independent "islands" of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programs to avoid getting stuck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6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000" b="1">
                <a:solidFill>
                  <a:srgbClr val="2D6A9F"/>
                </a:solidFill>
                <a:latin typeface="Calibri"/>
              </a:defRPr>
            </a:pPr>
            <a:r>
              <a:t>When: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Runs the loop: 100 iterations, fully automated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029200"/>
            <a:ext cx="11338560" cy="16002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  How one iteration flows (repeated 100 times, fully automated):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6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>
                <a:solidFill>
                  <a:srgbClr val="2D6A9F"/>
                </a:solidFill>
                <a:latin typeface="Calibri"/>
              </a:defRPr>
            </a:pPr>
            <a:r>
              <a:t>  1. OpenEvolve: picks a parent program from the population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>
                <a:solidFill>
                  <a:srgbClr val="2D6A9F"/>
                </a:solidFill>
                <a:latin typeface="Calibri"/>
              </a:defRPr>
            </a:pPr>
            <a:r>
              <a:t>  2. OpenEvolve: assembles a prompt: parent + best programs + knowledge base of past hypotheses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>
                <a:solidFill>
                  <a:srgbClr val="4A148C"/>
                </a:solidFill>
                <a:latin typeface="Calibri"/>
              </a:defRPr>
            </a:pPr>
            <a:r>
              <a:t>  3. LLM (Claude): reads the prompt, writes new code + a hypothesis predicting what will improve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>
                <a:solidFill>
                  <a:srgbClr val="C62828"/>
                </a:solidFill>
                <a:latin typeface="Calibri"/>
              </a:defRPr>
            </a:pPr>
            <a:r>
              <a:t>  4. Evaluator: compiles the code, runs 3 workloads, measures latency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>
                <a:solidFill>
                  <a:srgbClr val="C62828"/>
                </a:solidFill>
                <a:latin typeface="Calibri"/>
              </a:defRPr>
            </a:pPr>
            <a:r>
              <a:t>  5. Evaluator: checks hypothesis: did the prediction come true?  Records CONFIRMED or REFUTED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>
                <a:solidFill>
                  <a:srgbClr val="2D6A9F"/>
                </a:solidFill>
                <a:latin typeface="Calibri"/>
              </a:defRPr>
            </a:pPr>
            <a:r>
              <a:t>  6. OpenEvolve: stores the program + results; updates the knowledge base for the next iteration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3A5C"/>
                </a:solidFill>
                <a:latin typeface="Calibri"/>
              </a:defRPr>
            </a:pPr>
            <a:r>
              <a:t>One Iteration  —  What Happens Each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Each step is labeled with WHO does it. No human is involved during the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05840"/>
            <a:ext cx="2743200" cy="4846320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A5C"/>
                </a:solidFill>
                <a:latin typeface="Calibri"/>
              </a:defRPr>
            </a:pPr>
            <a:r>
              <a:t>ASSEMBLE CONTEXT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666666"/>
                </a:solidFill>
                <a:latin typeface="Calibri"/>
              </a:defRPr>
            </a:pPr>
            <a:r>
              <a:t>OpenEvolve does this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Pick a parent program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from the population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Gather the 3 best programs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and 2 diverse ones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Include the knowledge base: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a summary of ALL past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hypotheses and whether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they were confirmed or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refuted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Package it all into a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prompt for the LLM</a:t>
            </a:r>
          </a:p>
        </p:txBody>
      </p:sp>
      <p:sp>
        <p:nvSpPr>
          <p:cNvPr id="5" name="Oval 4"/>
          <p:cNvSpPr/>
          <p:nvPr/>
        </p:nvSpPr>
        <p:spPr>
          <a:xfrm>
            <a:off x="2651760" y="1078992"/>
            <a:ext cx="320040" cy="32004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81528" y="3429000.0"/>
            <a:ext cx="146304" cy="0.0"/>
          </a:xfrm>
          <a:prstGeom prst="line">
            <a:avLst/>
          </a:prstGeom>
          <a:ln w="38100">
            <a:solidFill>
              <a:srgbClr val="2D6A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46120" y="1005840"/>
            <a:ext cx="2743200" cy="484632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A148C"/>
                </a:solidFill>
                <a:latin typeface="Calibri"/>
              </a:defRPr>
            </a:pPr>
            <a:r>
              <a:t>PROPOSE + CODE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666666"/>
                </a:solidFill>
                <a:latin typeface="Calibri"/>
              </a:defRPr>
            </a:pPr>
            <a:r>
              <a:t>The LLM does this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Read the prompt: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- what strategies worked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- what strategies failed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- best code so far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Form a NEW hypothesis: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"If I route by load for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small inputs, latency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will drop below X ms"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Write the Go code that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implements this idea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Embed the hypothesis as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a structured comment</a:t>
            </a:r>
          </a:p>
        </p:txBody>
      </p:sp>
      <p:sp>
        <p:nvSpPr>
          <p:cNvPr id="8" name="Oval 7"/>
          <p:cNvSpPr/>
          <p:nvPr/>
        </p:nvSpPr>
        <p:spPr>
          <a:xfrm>
            <a:off x="5577840" y="1078992"/>
            <a:ext cx="320040" cy="320040"/>
          </a:xfrm>
          <a:prstGeom prst="ellipse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07608" y="3429000.0"/>
            <a:ext cx="146304" cy="0.0"/>
          </a:xfrm>
          <a:prstGeom prst="line">
            <a:avLst/>
          </a:prstGeom>
          <a:ln w="38100">
            <a:solidFill>
              <a:srgbClr val="4A1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72200" y="1005840"/>
            <a:ext cx="2743200" cy="484632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62828"/>
                </a:solidFill>
                <a:latin typeface="Calibri"/>
              </a:defRPr>
            </a:pPr>
            <a:r>
              <a:t>RUN EXPERIMENTS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666666"/>
                </a:solidFill>
                <a:latin typeface="Calibri"/>
              </a:defRPr>
            </a:pPr>
            <a:r>
              <a:t>The evaluator does this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Compile the new code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into a Go binary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Run 3 simulation workloads: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cache_warmup  (5 sec)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load_spikes   (5 sec)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multiturn     (10 sec)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Measure actual latency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on each workload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Check the hypothesis: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predicted &lt; 5000 ms?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actual = 4923 ms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→ CONFIRMED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1078992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33688" y="3429000.0"/>
            <a:ext cx="146304" cy="0.0"/>
          </a:xfrm>
          <a:prstGeom prst="line">
            <a:avLst/>
          </a:prstGeom>
          <a:ln w="381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98280" y="1005840"/>
            <a:ext cx="2743200" cy="48463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LEARN + STORE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666666"/>
                </a:solidFill>
                <a:latin typeface="Calibri"/>
              </a:defRPr>
            </a:pPr>
            <a:r>
              <a:t>OpenEvolve does this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Record the verdict in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the hypothesis ledger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(a persistent JSON file)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Regenerate the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knowledge base from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ALL past results: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CONFIRMED strategies: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input-length routing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(4/4, avg −5.4%)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REFUTED strategies: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load-only for all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(0/2, avg +5.5%)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Store program in the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population database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0" y="1078992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691640.0" y="5989320"/>
            <a:ext cx="8778240.0" cy="0"/>
          </a:xfrm>
          <a:prstGeom prst="line">
            <a:avLst/>
          </a:prstGeom>
          <a:ln w="38100">
            <a:solidFill>
              <a:srgbClr val="2D6A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0" y="5806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repeat  →  knowledge base grows every iteration  →  LLM gets smarter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6217920"/>
            <a:ext cx="11521440" cy="50292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8B6B00"/>
                </a:solidFill>
                <a:latin typeface="Calibri"/>
              </a:defRPr>
            </a:pPr>
            <a:r>
              <a:t>  KEY: The LLM generates a new hypothesis EVERY iteration. It's not a one-time thing. The knowledge base grows, so the LLM's hypotheses get better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3A5C"/>
                </a:solidFill>
                <a:latin typeface="Calibri"/>
              </a:defRPr>
            </a:pPr>
            <a:r>
              <a:t>How Hypotheses Drive the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Each iteration: the LLM proposes a hypothesis, the simulator tests it, the result feeds back to the 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1051560"/>
            <a:ext cx="2286000" cy="146304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B6B00"/>
                </a:solidFill>
                <a:latin typeface="Calibri"/>
              </a:defRPr>
            </a:pPr>
            <a:r>
              <a:t>KNOWLEDGE BASE</a:t>
            </a:r>
            <a:br/>
            <a:r>
              <a:t>(what we know so far)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300" b="0">
                <a:solidFill>
                  <a:srgbClr val="2B2B2B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Confirmed: input-length routing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Refuted: load-only for all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Inconclusive: SLO-aware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2788920"/>
            <a:ext cx="2286000" cy="146304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148C"/>
                </a:solidFill>
                <a:latin typeface="Calibri"/>
              </a:defRPr>
            </a:pPr>
            <a:r>
              <a:t>LLM PROPOSES</a:t>
            </a:r>
            <a:br/>
            <a:r>
              <a:t>(every iteration)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300" b="0">
                <a:solidFill>
                  <a:srgbClr val="2B2B2B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Reads the knowledge base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Picks a strategy to try or refine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Writes code + hypothesis comment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4526280"/>
            <a:ext cx="2286000" cy="146304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62828"/>
                </a:solidFill>
                <a:latin typeface="Calibri"/>
              </a:defRPr>
            </a:pPr>
            <a:r>
              <a:t>SIMULATOR TESTS</a:t>
            </a:r>
            <a:br/>
            <a:r>
              <a:t>(automatic, no human)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300" b="0">
                <a:solidFill>
                  <a:srgbClr val="2B2B2B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Compiles code, runs 3 workloads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Measures actual latency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Compares against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788920"/>
            <a:ext cx="2286000" cy="146304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VERDICT RECORDED</a:t>
            </a:r>
            <a:br/>
            <a:r>
              <a:t>(grows the knowledge)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300" b="0">
                <a:solidFill>
                  <a:srgbClr val="2B2B2B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CONFIRMED or REFUTED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Stored in persistent ledger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B2B2B"/>
                </a:solidFill>
                <a:latin typeface="Calibri"/>
              </a:defRPr>
            </a:pPr>
            <a:r>
              <a:t>Knowledge base regenerated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1431" y="2332671"/>
            <a:ext cx="638177" cy="638177"/>
          </a:xfrm>
          <a:prstGeom prst="line">
            <a:avLst/>
          </a:prstGeom>
          <a:ln w="38100">
            <a:solidFill>
              <a:srgbClr val="4A1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841431" y="4070031"/>
            <a:ext cx="638177" cy="638177"/>
          </a:xfrm>
          <a:prstGeom prst="line">
            <a:avLst/>
          </a:prstGeom>
          <a:ln w="381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104071" y="4070031"/>
            <a:ext cx="638177" cy="638177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104071" y="2332671"/>
            <a:ext cx="638177" cy="638177"/>
          </a:xfrm>
          <a:prstGeom prst="line">
            <a:avLst/>
          </a:prstGeom>
          <a:ln w="38100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14600" y="3200400"/>
            <a:ext cx="1554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LEARNING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Calibri"/>
              </a:defRPr>
            </a:pPr>
            <a:r>
              <a:t>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0058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Concrete Example: 3 Iterations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371600"/>
            <a:ext cx="5943600" cy="141732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4A148C"/>
                </a:solidFill>
                <a:latin typeface="Calibri"/>
              </a:defRPr>
            </a:pPr>
            <a:r>
              <a:t>  Iteration 1 — First try (no prior knowledge)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3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LLM proposes:  "Route small inputs (&lt;1000 tokens) by load-balance"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A148C"/>
                </a:solidFill>
                <a:latin typeface="Calibri"/>
              </a:defRPr>
            </a:pPr>
            <a:r>
              <a:t>  LLM writes:    // HYPOTHESIS-1: Input-length routing reduces cache_warmup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4A148C"/>
                </a:solidFill>
                <a:latin typeface="Calibri"/>
              </a:defRPr>
            </a:pPr>
            <a:r>
              <a:t>                 // EXPECT-1: cache_warmup_e2e_ms &lt; 5000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00" b="0">
                <a:solidFill>
                  <a:srgbClr val="1B5E20"/>
                </a:solidFill>
                <a:latin typeface="Calibri"/>
              </a:defRPr>
            </a:pPr>
            <a:r>
              <a:t>  Simulator:     actual = 4923 ms  →  CONFIRMED  (delta = −5.9% vs baseline)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00695C"/>
                </a:solidFill>
                <a:latin typeface="Calibri"/>
              </a:defRPr>
            </a:pPr>
            <a:r>
              <a:t>  Ledger:        input-length routing: 1/1 confirmed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971800"/>
            <a:ext cx="5943600" cy="141732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E65C00"/>
                </a:solidFill>
                <a:latin typeface="Calibri"/>
              </a:defRPr>
            </a:pPr>
            <a:r>
              <a:t>  Iteration 5 — Tries a different idea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3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LLM proposes:  "Use load-balance for ALL requests, not just small ones"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65C00"/>
                </a:solidFill>
                <a:latin typeface="Calibri"/>
              </a:defRPr>
            </a:pPr>
            <a:r>
              <a:t>  LLM writes:    // HYPOTHESIS-1: Load-only routing is universally better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E65C00"/>
                </a:solidFill>
                <a:latin typeface="Calibri"/>
              </a:defRPr>
            </a:pPr>
            <a:r>
              <a:t>                 // EXPECT-1: multiturn_e2e_ms &lt; 2100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00" b="0">
                <a:solidFill>
                  <a:srgbClr val="C62828"/>
                </a:solidFill>
                <a:latin typeface="Calibri"/>
              </a:defRPr>
            </a:pPr>
            <a:r>
              <a:t>  Simulator:     actual = 2265 ms  →  REFUTED  (delta = +5.5% vs baseline)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C62828"/>
                </a:solidFill>
                <a:latin typeface="Calibri"/>
              </a:defRPr>
            </a:pPr>
            <a:r>
              <a:t>  Ledger:        load-only for all: 0/1 confirmed — bouncing sessions hurts!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4572000"/>
            <a:ext cx="5943600" cy="14173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  Iteration 15 — Builds on confirmed, avoids refuted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3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8B6B00"/>
                </a:solidFill>
                <a:latin typeface="Calibri"/>
              </a:defRPr>
            </a:pPr>
            <a:r>
              <a:t>  Knowledge base says:  input-length routing confirmed 4/4;  load-only refuted 0/2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LLM proposes:  "Combine input-length routing with CacheHitRate for even better results"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1B5E20"/>
                </a:solidFill>
                <a:latin typeface="Calibri"/>
              </a:defRPr>
            </a:pPr>
            <a:r>
              <a:t>  LLM writes:    // HYPOTHESIS-1: Adding CacheHitRate to input-length routing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B5E20"/>
                </a:solidFill>
                <a:latin typeface="Calibri"/>
              </a:defRPr>
            </a:pPr>
            <a:r>
              <a:t>                 // EXPECT-1: avg_e2e_ms &lt; 3800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00" b="0">
                <a:solidFill>
                  <a:srgbClr val="1B5E20"/>
                </a:solidFill>
                <a:latin typeface="Calibri"/>
              </a:defRPr>
            </a:pPr>
            <a:r>
              <a:t>  Simulator:     actual = 3750 ms  →  CONFIRMED  (new best!)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6172200"/>
            <a:ext cx="5943600" cy="50292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8B6B00"/>
                </a:solidFill>
                <a:latin typeface="Calibri"/>
              </a:defRPr>
            </a:pPr>
            <a:r>
              <a:t>  The LLM learns from its own experiments. Confirmed ideas get refined. Refuted ideas get avoided.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3A5C"/>
                </a:solidFill>
                <a:latin typeface="Calibri"/>
              </a:defRPr>
            </a:pPr>
            <a:r>
              <a:t>The 3 Experiments  —  Why No Static Strategy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Each candidate router is tested on 3 workloads that pull in different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cache_warmup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1000 req/s for 5 seconds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6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000" b="1">
                <a:solidFill>
                  <a:srgbClr val="1B5E20"/>
                </a:solidFill>
                <a:latin typeface="Calibri"/>
              </a:defRPr>
            </a:pPr>
            <a:r>
              <a:t>What it runs: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Small requests (&lt; 1000 tokens)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3 prefix groups + no-prefix batch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600" b="0">
                <a:solidFill>
                  <a:srgbClr val="2B2B2B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2971800"/>
            <a:ext cx="3337560" cy="77724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C62828"/>
                </a:solidFill>
                <a:latin typeface="Calibri"/>
              </a:defRPr>
            </a:pPr>
            <a:r>
              <a:t>  The trap: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Prefix-affinity maps 3 groups to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3 instances → GPU 3 sits idle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86200"/>
            <a:ext cx="3337560" cy="77724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1B5E20"/>
                </a:solidFill>
                <a:latin typeface="Calibri"/>
              </a:defRPr>
            </a:pPr>
            <a:r>
              <a:t>  What works: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Load-balance for small inputs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(∙26% latency)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0584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5C00"/>
                </a:solidFill>
                <a:latin typeface="Calibri"/>
              </a:defRPr>
            </a:pPr>
            <a:r>
              <a:t>load_spikes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1000 req/s for 5 seconds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6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000" b="1">
                <a:solidFill>
                  <a:srgbClr val="E65C00"/>
                </a:solidFill>
                <a:latin typeface="Calibri"/>
              </a:defRPr>
            </a:pPr>
            <a:r>
              <a:t>What it runs: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50% share one big prefix (bursty)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25% realtime + 25% other prefix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600" b="0">
                <a:solidFill>
                  <a:srgbClr val="2B2B2B"/>
                </a:solidFill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4343400" y="2971800"/>
            <a:ext cx="3337560" cy="77724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C62828"/>
                </a:solidFill>
                <a:latin typeface="Calibri"/>
              </a:defRPr>
            </a:pPr>
            <a:r>
              <a:t>  The trap: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Prefix-affinity sends 50% of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traffic to ONE instance (+113%!)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86200"/>
            <a:ext cx="3337560" cy="77724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1B5E20"/>
                </a:solidFill>
                <a:latin typeface="Calibri"/>
              </a:defRPr>
            </a:pPr>
            <a:r>
              <a:t>  What works: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Spread heavy-hitter traffic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across instances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00584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148C"/>
                </a:solidFill>
                <a:latin typeface="Calibri"/>
              </a:defRPr>
            </a:pPr>
            <a:r>
              <a:t>multiturn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150 req/s for 10 seconds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6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000" b="1">
                <a:solidFill>
                  <a:srgbClr val="4A148C"/>
                </a:solidFill>
                <a:latin typeface="Calibri"/>
              </a:defRPr>
            </a:pPr>
            <a:r>
              <a:t>What it runs: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Multi-turn sessions with big prefixes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40% coding, 25% chat, 15% QA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600" b="0">
                <a:solidFill>
                  <a:srgbClr val="2B2B2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8138160" y="2971800"/>
            <a:ext cx="3337560" cy="77724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C62828"/>
                </a:solidFill>
                <a:latin typeface="Calibri"/>
              </a:defRPr>
            </a:pPr>
            <a:r>
              <a:t>  The trap: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Load-balance bounces sessions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→ loses KV cache (72 ms penalty)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886200"/>
            <a:ext cx="3337560" cy="77724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1B5E20"/>
                </a:solidFill>
                <a:latin typeface="Calibri"/>
              </a:defRPr>
            </a:pPr>
            <a:r>
              <a:t>  What works: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Keep sessions pinned to their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B2B2B"/>
                </a:solidFill>
                <a:latin typeface="Calibri"/>
              </a:defRPr>
            </a:pPr>
            <a:r>
              <a:t>  cached instance (prefix-affinity)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394960"/>
            <a:ext cx="11338560" cy="118872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8B6B00"/>
                </a:solidFill>
                <a:latin typeface="Calibri"/>
              </a:defRPr>
            </a:pPr>
            <a:r>
              <a:t>  The insight: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400" b="0">
                <a:solidFill>
                  <a:srgbClr val="2B2B2B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1100" b="0">
                <a:solidFill>
                  <a:srgbClr val="2B2B2B"/>
                </a:solidFill>
                <a:latin typeface="Calibri"/>
              </a:defRPr>
            </a:pPr>
            <a:r>
              <a:t>  cache_warmup wants load-balance.  multiturn wants prefix-affinity.  load_spikes punishes prefix-affinity.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100" b="1">
                <a:solidFill>
                  <a:srgbClr val="8B6B00"/>
                </a:solidFill>
                <a:latin typeface="Calibri"/>
              </a:defRPr>
            </a:pPr>
            <a:r>
              <a:t>  No single fixed strategy works.  The router must be ADAPTIVE — choose a strategy based on the request.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  A hand-crafted oracle proves 28% improvement is possible.  We let OpenEvolve discover this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