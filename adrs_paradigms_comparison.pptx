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Two Paradigms for Algorithm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Version 1  |  Horizontal Split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237744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926080" cy="4114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Claude-Driven ADRS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Principles &amp;</a:t>
            </a:r>
            <a:br/>
            <a:r>
              <a:t>Hypothesis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  <a:latin typeface="Calibri"/>
              </a:defRPr>
            </a:pPr>
            <a:r>
              <a:t>✓  Well-defined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Process</a:t>
            </a:r>
            <a:br/>
            <a:r>
              <a:t>Reproducibility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Calibri"/>
              </a:defRPr>
            </a:pPr>
            <a:r>
              <a:t>✗  Black-box / Agentic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Algorithm</a:t>
            </a:r>
            <a:br/>
            <a:r>
              <a:t>Reproducibility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  <a:latin typeface="Calibri"/>
              </a:defRPr>
            </a:pPr>
            <a:r>
              <a:t>✓  Results may 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611880"/>
            <a:ext cx="8503920" cy="1905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94960" y="344728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77640"/>
            <a:ext cx="11430000" cy="2377440"/>
          </a:xfrm>
          <a:prstGeom prst="roundRect">
            <a:avLst>
              <a:gd name="adj" fmla="val 5000"/>
            </a:avLst>
          </a:prstGeom>
          <a:solidFill>
            <a:srgbClr val="3D270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3474720" cy="41148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Scientific ADRS  (OpenEvolve, GEPA)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923C"/>
                </a:solidFill>
                <a:latin typeface="Calibri"/>
              </a:defRPr>
            </a:pPr>
            <a:r>
              <a:t>Evolutionary Algorithms</a:t>
            </a:r>
            <a:br/>
            <a:r>
              <a:t>+ LLMs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  <a:latin typeface="Calibri"/>
              </a:defRPr>
            </a:pPr>
            <a:r>
              <a:t>✓  Principled methods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7548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846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923C"/>
                </a:solidFill>
                <a:latin typeface="Calibri"/>
              </a:defRPr>
            </a:pPr>
            <a:r>
              <a:t>Process</a:t>
            </a:r>
            <a:br/>
            <a:r>
              <a:t>Reproducibility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  <a:latin typeface="Calibri"/>
              </a:defRPr>
            </a:pPr>
            <a:r>
              <a:t>✓  Seed, temperature, config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7548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846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923C"/>
                </a:solidFill>
                <a:latin typeface="Calibri"/>
              </a:defRPr>
            </a:pPr>
            <a:r>
              <a:t>Algorithm</a:t>
            </a:r>
            <a:br/>
            <a:r>
              <a:t>Reproducibility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  <a:latin typeface="Calibri"/>
              </a:defRPr>
            </a:pPr>
            <a:r>
              <a:t>✓  Results match across 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293B"/>
                </a:solidFill>
                <a:latin typeface="Calibri Light"/>
              </a:defRPr>
            </a:pPr>
            <a:r>
              <a:t>Two Paradigms for Algorithm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Version 2  |  Side-by-Side Columns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12064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Claude-Driven ADRS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1168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933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Principles &amp;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86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Clearly defined structure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01752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992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Process Reproducibility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91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Hard — Claude is a black box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0050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Agentic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97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Non-deterministic reasoning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02920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0109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Algorithm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303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May reproduce across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097280"/>
            <a:ext cx="5303520" cy="512064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0" y="128016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Scientific ADRS  (OpenEvolve, GEPA)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201168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9933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Evolutionary +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286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Principled algorithm design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301752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9992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Process Reproducibility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291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Seed, temperature, config</a:t>
            </a:r>
          </a:p>
        </p:txBody>
      </p:sp>
      <p:sp>
        <p:nvSpPr>
          <p:cNvPr id="26" name="Oval 25"/>
          <p:cNvSpPr/>
          <p:nvPr/>
        </p:nvSpPr>
        <p:spPr>
          <a:xfrm>
            <a:off x="6766560" y="402336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0050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Deterministic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297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Same inputs → same outputs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0" y="502920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50109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Algorithm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5303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Reproducible across 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3832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Calibri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Two Paradigms for Algorithm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717A"/>
                </a:solidFill>
                <a:latin typeface="Calibri"/>
              </a:defRPr>
            </a:pPr>
            <a:r>
              <a:t>Version 3  |  Process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Claude-Driven ADRS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737360" cy="137160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Define</a:t>
            </a:r>
            <a:br/>
            <a:r>
              <a:t>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03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472B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600200"/>
            <a:ext cx="1737360" cy="137160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8288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Set</a:t>
            </a:r>
            <a:br/>
            <a:r>
              <a:t>Hypotheses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03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472B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600200"/>
            <a:ext cx="1737360" cy="1371600"/>
          </a:xfrm>
          <a:prstGeom prst="roundRect">
            <a:avLst>
              <a:gd name="adj" fmla="val 10000"/>
            </a:avLst>
          </a:prstGeom>
          <a:solidFill>
            <a:srgbClr val="351C2E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Claude</a:t>
            </a:r>
            <a:br/>
            <a:r>
              <a:t>Agent</a:t>
            </a:r>
            <a:br/>
            <a:r>
              <a:t>(black box)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472B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600200"/>
            <a:ext cx="1737360" cy="137160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8288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  <a:br/>
            <a:r>
              <a:t>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03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472B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00200"/>
            <a:ext cx="1737360" cy="137160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8288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Evaluate</a:t>
            </a:r>
            <a:br/>
            <a:r>
              <a:t>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063240"/>
            <a:ext cx="2194560" cy="32004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✗  Process: NOT reproducible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063240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✓  Algorithm output: may match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611880"/>
            <a:ext cx="9418320" cy="127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94960" y="3456432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1717A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84048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Scientific ADRS  (OpenEvolve, GEPA)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389120"/>
            <a:ext cx="1737360" cy="13716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177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Configure</a:t>
            </a:r>
            <a:br/>
            <a:r>
              <a:t>Seed / Temp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892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4389120"/>
            <a:ext cx="1737360" cy="13716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40" y="46177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Evolutionary</a:t>
            </a:r>
            <a:br/>
            <a:r>
              <a:t>Algorithm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892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4389120"/>
            <a:ext cx="1737360" cy="1371600"/>
          </a:xfrm>
          <a:prstGeom prst="roundRect">
            <a:avLst>
              <a:gd name="adj" fmla="val 10000"/>
            </a:avLst>
          </a:prstGeom>
          <a:solidFill>
            <a:srgbClr val="0A2E2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6177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Mutations</a:t>
            </a:r>
            <a:br/>
            <a:r>
              <a:t>(controlled)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92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4389120"/>
            <a:ext cx="1737360" cy="13716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6177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Evaluate</a:t>
            </a:r>
            <a:br/>
            <a:r>
              <a:t>&amp; Select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892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4389120"/>
            <a:ext cx="1737360" cy="13716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46177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Best</a:t>
            </a:r>
            <a:br/>
            <a:r>
              <a:t>Algorithm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5852160"/>
            <a:ext cx="2194560" cy="3200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✓  Process: reproducible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5852160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✓  Algorithm output: matches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1D0E"/>
                </a:solidFill>
                <a:latin typeface="Calibri Light"/>
              </a:defRPr>
            </a:pPr>
            <a:r>
              <a:t>Two Paradigms for Algorithm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16C"/>
                </a:solidFill>
                <a:latin typeface="Calibri"/>
              </a:defRPr>
            </a:pPr>
            <a:r>
              <a:t>Version 4  |  Scorecard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280160"/>
            <a:ext cx="38404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Claude-Driven ADRS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0" y="1280160"/>
            <a:ext cx="3840480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Scientific ADRS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3200400" cy="914400"/>
          </a:xfrm>
          <a:prstGeom prst="rect">
            <a:avLst/>
          </a:prstGeom>
          <a:solidFill>
            <a:srgbClr val="FFFAF0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1D0E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828800"/>
            <a:ext cx="3840480" cy="914400"/>
          </a:xfrm>
          <a:prstGeom prst="rect">
            <a:avLst/>
          </a:prstGeom>
          <a:solidFill>
            <a:srgbClr val="FFFAF0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965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91D0E"/>
                </a:solidFill>
                <a:latin typeface="Calibri"/>
              </a:defRPr>
            </a:pPr>
            <a:r>
              <a:t>LLM agent (agentic)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828800"/>
            <a:ext cx="3840480" cy="914400"/>
          </a:xfrm>
          <a:prstGeom prst="rect">
            <a:avLst/>
          </a:prstGeom>
          <a:solidFill>
            <a:srgbClr val="FFFAF0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965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91D0E"/>
                </a:solidFill>
                <a:latin typeface="Calibri"/>
              </a:defRPr>
            </a:pPr>
            <a:r>
              <a:t>Evolutionary algorithms + LLMs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743200"/>
            <a:ext cx="3200400" cy="914400"/>
          </a:xfrm>
          <a:prstGeom prst="rect">
            <a:avLst/>
          </a:prstGeom>
          <a:solidFill>
            <a:srgbClr val="F0E7D8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80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1D0E"/>
                </a:solidFill>
                <a:latin typeface="Calibri"/>
              </a:defRPr>
            </a:pPr>
            <a:r>
              <a:t>Principles &amp; 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743200"/>
            <a:ext cx="3840480" cy="914400"/>
          </a:xfrm>
          <a:prstGeom prst="rect">
            <a:avLst/>
          </a:prstGeom>
          <a:solidFill>
            <a:srgbClr val="F0E7D8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880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✓  Well-defined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2743200"/>
            <a:ext cx="3840480" cy="914400"/>
          </a:xfrm>
          <a:prstGeom prst="rect">
            <a:avLst/>
          </a:prstGeom>
          <a:solidFill>
            <a:srgbClr val="F0E7D8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880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✓  Well-defined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657600"/>
            <a:ext cx="3200400" cy="914400"/>
          </a:xfrm>
          <a:prstGeom prst="rect">
            <a:avLst/>
          </a:prstGeom>
          <a:solidFill>
            <a:srgbClr val="FFFAF0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7947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1D0E"/>
                </a:solidFill>
                <a:latin typeface="Calibri"/>
              </a:defRPr>
            </a:pPr>
            <a:r>
              <a:t>Process</a:t>
            </a:r>
            <a:br/>
            <a:r>
              <a:t>Reproducibility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657600"/>
            <a:ext cx="3840480" cy="914400"/>
          </a:xfrm>
          <a:prstGeom prst="rect">
            <a:avLst/>
          </a:prstGeom>
          <a:solidFill>
            <a:srgbClr val="FFFAF0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794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  <a:latin typeface="Calibri"/>
              </a:defRPr>
            </a:pPr>
            <a:r>
              <a:t>✗  Non-deterministic</a:t>
            </a:r>
            <a:br/>
            <a:r>
              <a:t>     (black-box agent)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3657600"/>
            <a:ext cx="3840480" cy="914400"/>
          </a:xfrm>
          <a:prstGeom prst="rect">
            <a:avLst/>
          </a:prstGeom>
          <a:solidFill>
            <a:srgbClr val="FFFAF0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3794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✓  Deterministic</a:t>
            </a:r>
            <a:br/>
            <a:r>
              <a:t>     (seed, temp, config)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572000"/>
            <a:ext cx="3200400" cy="914400"/>
          </a:xfrm>
          <a:prstGeom prst="rect">
            <a:avLst/>
          </a:prstGeom>
          <a:solidFill>
            <a:srgbClr val="F0E7D8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7091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1D0E"/>
                </a:solidFill>
                <a:latin typeface="Calibri"/>
              </a:defRPr>
            </a:pPr>
            <a:r>
              <a:t>Algorithm Output</a:t>
            </a:r>
            <a:br/>
            <a:r>
              <a:t>Reproducibility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572000"/>
            <a:ext cx="3840480" cy="914400"/>
          </a:xfrm>
          <a:prstGeom prst="rect">
            <a:avLst/>
          </a:prstGeom>
          <a:solidFill>
            <a:srgbClr val="F0E7D8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4709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✓  May reproduce</a:t>
            </a:r>
            <a:br/>
            <a:r>
              <a:t>     across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4572000"/>
            <a:ext cx="3840480" cy="914400"/>
          </a:xfrm>
          <a:prstGeom prst="rect">
            <a:avLst/>
          </a:prstGeom>
          <a:solidFill>
            <a:srgbClr val="F0E7D8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709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✓  Reproduces</a:t>
            </a:r>
            <a:br/>
            <a:r>
              <a:t>     across users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5486400"/>
            <a:ext cx="3200400" cy="914400"/>
          </a:xfrm>
          <a:prstGeom prst="rect">
            <a:avLst/>
          </a:prstGeom>
          <a:solidFill>
            <a:srgbClr val="FFFAF0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6235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1D0E"/>
                </a:solidFill>
                <a:latin typeface="Calibri"/>
              </a:defRPr>
            </a:pPr>
            <a:r>
              <a:t>Examples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5486400"/>
            <a:ext cx="3840480" cy="914400"/>
          </a:xfrm>
          <a:prstGeom prst="rect">
            <a:avLst/>
          </a:prstGeom>
          <a:solidFill>
            <a:srgbClr val="FFFAF0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5623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91D0E"/>
                </a:solidFill>
                <a:latin typeface="Calibri"/>
              </a:defRPr>
            </a:pPr>
            <a:r>
              <a:t>Claude + ADRS prompts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0" y="5486400"/>
            <a:ext cx="3840480" cy="914400"/>
          </a:xfrm>
          <a:prstGeom prst="rect">
            <a:avLst/>
          </a:prstGeom>
          <a:solidFill>
            <a:srgbClr val="FFFAF0"/>
          </a:solidFill>
          <a:ln w="1905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5623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91D0E"/>
                </a:solidFill>
                <a:latin typeface="Calibri"/>
              </a:defRPr>
            </a:pPr>
            <a:r>
              <a:t>OpenEvolve, GEPA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Two Paradigms for Algorithm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Version 5  |  Card Layout with Icons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2468880"/>
          </a:xfrm>
          <a:prstGeom prst="roundRect">
            <a:avLst>
              <a:gd name="adj" fmla="val 4000"/>
            </a:avLst>
          </a:prstGeom>
          <a:solidFill>
            <a:srgbClr val="0C293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554480"/>
            <a:ext cx="1280160" cy="1280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Calibri"/>
              </a:defRPr>
            </a:pPr>
            <a:r>
              <a:t>Claude-Driven</a:t>
            </a:r>
            <a:br/>
            <a:r>
              <a:t>ADRS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2984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Principles</a:t>
            </a:r>
            <a:br/>
            <a:r>
              <a:t>Defined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2468880" cy="127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Hypotheses &amp;</a:t>
            </a:r>
            <a:br/>
            <a:r>
              <a:t>processes clear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2984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  <a:br/>
            <a:r>
              <a:t>Repro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828800"/>
            <a:ext cx="2468880" cy="127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Agentic black-box</a:t>
            </a:r>
            <a:br/>
            <a:r>
              <a:t>non-deterministic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2984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Algorithm</a:t>
            </a:r>
            <a:br/>
            <a:r>
              <a:t>Repro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828800"/>
            <a:ext cx="2468880" cy="127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Output algorithms</a:t>
            </a:r>
            <a:br/>
            <a:r>
              <a:t>may match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361188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69080"/>
            <a:ext cx="11247120" cy="2468880"/>
          </a:xfrm>
          <a:prstGeom prst="roundRect">
            <a:avLst>
              <a:gd name="adj" fmla="val 4000"/>
            </a:avLst>
          </a:prstGeom>
          <a:solidFill>
            <a:srgbClr val="352A0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617720"/>
            <a:ext cx="1280160" cy="1280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89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  <a:latin typeface="Calibri"/>
              </a:defRPr>
            </a:pPr>
            <a:r>
              <a:t>Scientific ADRS</a:t>
            </a:r>
            <a:br/>
            <a:r>
              <a:t>(OpenEvolve, GEPA)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361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Principled</a:t>
            </a:r>
            <a:br/>
            <a:r>
              <a:t>Methods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4892040"/>
            <a:ext cx="2468880" cy="127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4983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Evolutionary algs</a:t>
            </a:r>
            <a:br/>
            <a:r>
              <a:t>+ LLM mutations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361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  <a:br/>
            <a:r>
              <a:t>Repro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4892040"/>
            <a:ext cx="2468880" cy="127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4983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Seed, temperature,</a:t>
            </a:r>
            <a:br/>
            <a:r>
              <a:t>full config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361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Algorithm</a:t>
            </a:r>
            <a:br/>
            <a:r>
              <a:t>Repro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892040"/>
            <a:ext cx="2468880" cy="127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983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Same results</a:t>
            </a:r>
            <a:br/>
            <a:r>
              <a:t>across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