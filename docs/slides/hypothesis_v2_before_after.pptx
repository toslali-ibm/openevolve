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Hypothesis-Driven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39E"/>
                </a:solidFill>
                <a:latin typeface="Arial"/>
              </a:defRPr>
            </a:pPr>
            <a:r>
              <a:t>Teaching LLMs to reason about code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D8D8D"/>
                </a:solidFill>
                <a:latin typeface="Arial"/>
              </a:defRPr>
            </a:pPr>
            <a:r>
              <a:t>OpenEvolve  |  Inline Results (V3)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Normal vs. Hypothesis-Driven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949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A1E28"/>
                </a:solidFill>
                <a:latin typeface="Arial"/>
              </a:defRPr>
            </a:pPr>
            <a:r>
              <a:t>Normal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846320" cy="201168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EVOLVE-BLOCK-START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def solve(x):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result = random_search(x, n=100)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return result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EVOLVE-BLOCK-END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Metrics: {combined_score: 0.72}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LLM knows: the code + a score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LLM doesn't know: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  - Why this scored 0.72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  - What strategies were tried before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  - Which approaches failed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  - What mechanism drives the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3949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39E"/>
                </a:solidFill>
                <a:latin typeface="Arial"/>
              </a:defRPr>
            </a:pPr>
            <a:r>
              <a:t>Hypothesis-Driven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920240"/>
            <a:ext cx="4846320" cy="201168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EVOLVE-BLOCK-START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HYPOTHESIS-1: Multi-start escapes local minima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MECHANISM-1: Random restarts cover more basins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EXPECT-1: combined_score &gt; 0.8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RESULT-1: CONFIRMED (actual=0.92)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def solve(x):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result = multi_start_search(x, restarts=5)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return result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EVOLVE-BLOCK-END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1148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LLM knows: the code + score + reasoning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LLM also sees: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  - What hypothesis was tested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  - The causal mechanism proposed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  - Whether the prediction held (CONFIRMED)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  - Same info for top programs &amp; inspirations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Hypothesis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965960" cy="64008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GENERATED</a:t>
            </a:r>
            <a:br/>
            <a:r>
              <a:t>by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440" y="2011680"/>
            <a:ext cx="1864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93939"/>
                </a:solidFill>
                <a:latin typeface="Arial"/>
              </a:defRPr>
            </a:pPr>
            <a:r>
              <a:t>LLM writes HYPOTHESIS-N,</a:t>
            </a:r>
            <a:br/>
            <a:r>
              <a:t>MECHANISM-N, EXPECT-N</a:t>
            </a:r>
            <a:br/>
            <a:r>
              <a:t>as code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2700" y="1264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188720"/>
            <a:ext cx="1965960" cy="640080"/>
          </a:xfrm>
          <a:prstGeom prst="roundRect">
            <a:avLst/>
          </a:prstGeom>
          <a:solidFill>
            <a:srgbClr val="41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RESCUED</a:t>
            </a:r>
            <a:br/>
            <a:r>
              <a:t>if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9720" y="2011680"/>
            <a:ext cx="1864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93939"/>
                </a:solidFill>
                <a:latin typeface="Arial"/>
              </a:defRPr>
            </a:pPr>
            <a:r>
              <a:t>rescue_hypotheses()</a:t>
            </a:r>
            <a:br/>
            <a:r>
              <a:t>recovers from diff</a:t>
            </a:r>
            <a:br/>
            <a:r>
              <a:t>application edge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2980" y="1264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188720"/>
            <a:ext cx="1965960" cy="64008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TESTED</a:t>
            </a:r>
            <a:br/>
            <a:r>
              <a:t>by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0" y="2011680"/>
            <a:ext cx="1864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93939"/>
                </a:solidFill>
                <a:latin typeface="Arial"/>
              </a:defRPr>
            </a:pPr>
            <a:r>
              <a:t>inject_result_comments()</a:t>
            </a:r>
            <a:br/>
            <a:r>
              <a:t>compares EXPECT vs actual</a:t>
            </a:r>
            <a:br/>
            <a:r>
              <a:t>metrics from evaluator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3260" y="1264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188720"/>
            <a:ext cx="1965960" cy="64008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STAMPED</a:t>
            </a:r>
            <a:br/>
            <a:r>
              <a:t>in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0280" y="2011680"/>
            <a:ext cx="1864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93939"/>
                </a:solidFill>
                <a:latin typeface="Arial"/>
              </a:defRPr>
            </a:pPr>
            <a:r>
              <a:t>RESULT-N: CONFIRMED</a:t>
            </a:r>
            <a:br/>
            <a:r>
              <a:t>or REFUTED appended</a:t>
            </a:r>
            <a:br/>
            <a:r>
              <a:t>after each EXPECT-N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3540" y="1264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188720"/>
            <a:ext cx="1965960" cy="640080"/>
          </a:xfrm>
          <a:prstGeom prst="round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INHERITED</a:t>
            </a:r>
            <a:br/>
            <a:r>
              <a:t>next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0560" y="2011680"/>
            <a:ext cx="1864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93939"/>
                </a:solidFill>
                <a:latin typeface="Arial"/>
              </a:defRPr>
            </a:pPr>
            <a:r>
              <a:t>Parent/top/inspiration</a:t>
            </a:r>
            <a:br/>
            <a:r>
              <a:t>code carries hypotheses</a:t>
            </a:r>
            <a:br/>
            <a:r>
              <a:t>+ results to next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D5E"/>
                </a:solidFill>
                <a:latin typeface="Arial"/>
              </a:defRPr>
            </a:pPr>
            <a:r>
              <a:t>Where are hypotheses stored? When are they injected?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00B39E"/>
                </a:solidFill>
                <a:latin typeface="Arial"/>
              </a:defRPr>
            </a:pPr>
            <a:r>
              <a:t>Stored: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In the code itself as comment lines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Database stores code =&gt; stores hypotheses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No separate ledger, no artifacts, no JSON files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0053A0"/>
                </a:solidFill>
                <a:latin typeface="Arial"/>
              </a:defRPr>
            </a:pPr>
            <a:r>
              <a:t>Generated: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By LLM at the start of each iteration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Placed at TOP of EVOLVE-BLOCK, before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4A148"/>
                </a:solidFill>
                <a:latin typeface="Arial"/>
              </a:defRPr>
            </a:pPr>
            <a:r>
              <a:t>Injected (RESULT lines):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By framework AFTER evaluation returns metrics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iteration.py and process_parallel.py call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inject_result_comments(child_code, metrics)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002D5E"/>
                </a:solidFill>
                <a:latin typeface="Arial"/>
              </a:defRPr>
            </a:pPr>
            <a:r>
              <a:t>Visible to next LLM when: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Code selected as parent, top program, or inspiration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Carried by OpenEvolve's existing selection mechanisms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Leveraging OpenEvolve's Existing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10312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Parent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148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Parent code shown to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48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39E"/>
                </a:solidFill>
                <a:latin typeface="Arial"/>
              </a:defRPr>
            </a:pPr>
            <a:r>
              <a:t>Parent's hypotheses + RESULT lines visible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10312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Top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42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Best programs on island shown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42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39E"/>
                </a:solidFill>
                <a:latin typeface="Arial"/>
              </a:defRPr>
            </a:pPr>
            <a:r>
              <a:t>Top programs' confirmed/refuted strategies visible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210312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Inspirations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36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Diverse programs from other islands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6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39E"/>
                </a:solidFill>
                <a:latin typeface="Arial"/>
              </a:defRPr>
            </a:pPr>
            <a:r>
              <a:t>Cross-island hypothesis intelligence travels with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210312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Island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31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Populations evolve independently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31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39E"/>
                </a:solidFill>
                <a:latin typeface="Arial"/>
              </a:defRPr>
            </a:pPr>
            <a:r>
              <a:t>Hypothesis strategies stay local until migration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210312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25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Best programs cross islands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25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39E"/>
                </a:solidFill>
                <a:latin typeface="Arial"/>
              </a:defRPr>
            </a:pPr>
            <a:r>
              <a:t>Successful strategies spread with migrating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210312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Checkpointing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119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Full state persists to disk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19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39E"/>
                </a:solidFill>
                <a:latin typeface="Arial"/>
              </a:defRPr>
            </a:pPr>
            <a:r>
              <a:t>All hypothesis history preserved on resume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D5E"/>
                </a:solidFill>
                <a:latin typeface="Arial"/>
              </a:defRPr>
            </a:pPr>
            <a:r>
              <a:t>Result: hypothesis intelligence is a free rider on OpenEvolve's existing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D8D8D"/>
                </a:solidFill>
                <a:latin typeface="Arial"/>
              </a:defRPr>
            </a:pPr>
            <a:r>
              <a:t>OpenEvolve 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868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D8D8D"/>
                </a:solidFill>
                <a:latin typeface="Arial"/>
              </a:defRPr>
            </a:pPr>
            <a:r>
              <a:t>Hypothesis Benefit (zero extra code)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