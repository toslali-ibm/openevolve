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D5E"/>
                </a:solidFill>
                <a:latin typeface="Arial"/>
              </a:defRPr>
            </a:pPr>
            <a:r>
              <a:t>Tuning v1 vs v2: What Changed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D8D8D"/>
                </a:solidFill>
                <a:latin typeface="Arial"/>
              </a:defRPr>
            </a:pPr>
            <a:r>
              <a:t>v1 steered the LLM toward parameters. v2 keeps the LLM focused on algorithms.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286000" cy="457200"/>
          </a:xfrm>
          <a:prstGeom prst="roundRect">
            <a:avLst/>
          </a:prstGeom>
          <a:solidFill>
            <a:srgbClr val="0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2971800" y="1554480"/>
            <a:ext cx="4389120" cy="457200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v1 (tune everything)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0" y="1554480"/>
            <a:ext cx="4389120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v2 (smart + tiered)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2286000" cy="73152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200" b="1">
                <a:solidFill>
                  <a:srgbClr val="002D5E"/>
                </a:solidFill>
                <a:latin typeface="Arial"/>
              </a:defRPr>
            </a:pPr>
            <a:r>
              <a:t>LLM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148840"/>
            <a:ext cx="4389120" cy="731520"/>
          </a:xfrm>
          <a:prstGeom prst="roundRect">
            <a:avLst/>
          </a:prstGeom>
          <a:solidFill>
            <a:srgbClr val="F8D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200" b="0">
                <a:solidFill>
                  <a:srgbClr val="393939"/>
                </a:solidFill>
                <a:latin typeface="Arial"/>
              </a:defRPr>
            </a:pPr>
            <a:r>
              <a:t>30 lines, 12x @TUNE mentions</a:t>
            </a:r>
          </a:p>
          <a:p>
            <a:pPr>
              <a:spcAft>
                <a:spcPts val="200"/>
              </a:spcAft>
              <a:defRPr sz="1100" b="0">
                <a:solidFill>
                  <a:srgbClr val="8D8D8D"/>
                </a:solidFill>
                <a:latin typeface="Arial"/>
              </a:defRPr>
            </a:pPr>
            <a:r>
              <a:t>Frames LLM as parameter selector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0" y="2148840"/>
            <a:ext cx="4389120" cy="731520"/>
          </a:xfrm>
          <a:prstGeom prst="roundRect">
            <a:avLst/>
          </a:prstGeom>
          <a:solidFill>
            <a:srgbClr val="D4E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200" b="1">
                <a:solidFill>
                  <a:srgbClr val="393939"/>
                </a:solidFill>
                <a:latin typeface="Arial"/>
              </a:defRPr>
            </a:pPr>
            <a:r>
              <a:t>4 lines, 2x @TUNE mentions</a:t>
            </a:r>
          </a:p>
          <a:p>
            <a:pPr>
              <a:spcAft>
                <a:spcPts val="200"/>
              </a:spcAft>
              <a:defRPr sz="1100" b="0">
                <a:solidFill>
                  <a:srgbClr val="8D8D8D"/>
                </a:solidFill>
                <a:latin typeface="Arial"/>
              </a:defRPr>
            </a:pPr>
            <a:r>
              <a:t>Frames LLM as algorithm inventor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53512"/>
            <a:ext cx="228600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200" b="1">
                <a:solidFill>
                  <a:srgbClr val="002D5E"/>
                </a:solidFill>
                <a:latin typeface="Arial"/>
              </a:defRPr>
            </a:pPr>
            <a:r>
              <a:t>@TUNED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953512"/>
            <a:ext cx="4389120" cy="731520"/>
          </a:xfrm>
          <a:prstGeom prst="roundRect">
            <a:avLst/>
          </a:prstGeom>
          <a:solidFill>
            <a:srgbClr val="F8D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200" b="0">
                <a:solidFill>
                  <a:srgbClr val="393939"/>
                </a:solidFill>
                <a:latin typeface="Arial"/>
              </a:defRPr>
            </a:pPr>
            <a:r>
              <a:t>Shown to LLM</a:t>
            </a:r>
          </a:p>
          <a:p>
            <a:pPr>
              <a:spcAft>
                <a:spcPts val="200"/>
              </a:spcAft>
              <a:defRPr sz="1100" b="0">
                <a:solidFill>
                  <a:srgbClr val="8D8D8D"/>
                </a:solidFill>
                <a:latin typeface="Arial"/>
              </a:defRPr>
            </a:pPr>
            <a:r>
              <a:t>Anchors LLM on parameter thinking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0" y="2953512"/>
            <a:ext cx="4389120" cy="731520"/>
          </a:xfrm>
          <a:prstGeom prst="roundRect">
            <a:avLst/>
          </a:prstGeom>
          <a:solidFill>
            <a:srgbClr val="D4E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200" b="1">
                <a:solidFill>
                  <a:srgbClr val="393939"/>
                </a:solidFill>
                <a:latin typeface="Arial"/>
              </a:defRPr>
            </a:pPr>
            <a:r>
              <a:t>Hidden from LLM</a:t>
            </a:r>
          </a:p>
          <a:p>
            <a:pPr>
              <a:spcAft>
                <a:spcPts val="200"/>
              </a:spcAft>
              <a:defRPr sz="1100" b="0">
                <a:solidFill>
                  <a:srgbClr val="8D8D8D"/>
                </a:solidFill>
                <a:latin typeface="Arial"/>
              </a:defRPr>
            </a:pPr>
            <a:r>
              <a:t>LLM only sees optimized values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58184"/>
            <a:ext cx="2286000" cy="73152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200" b="1">
                <a:solidFill>
                  <a:srgbClr val="002D5E"/>
                </a:solidFill>
                <a:latin typeface="Arial"/>
              </a:defRPr>
            </a:pPr>
            <a:r>
              <a:t>When to Tune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3758184"/>
            <a:ext cx="4389120" cy="731520"/>
          </a:xfrm>
          <a:prstGeom prst="roundRect">
            <a:avLst/>
          </a:prstGeom>
          <a:solidFill>
            <a:srgbClr val="F8D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200" b="0">
                <a:solidFill>
                  <a:srgbClr val="393939"/>
                </a:solidFill>
                <a:latin typeface="Arial"/>
              </a:defRPr>
            </a:pPr>
            <a:r>
              <a:t>Every program, every iteration</a:t>
            </a:r>
          </a:p>
          <a:p>
            <a:pPr>
              <a:spcAft>
                <a:spcPts val="200"/>
              </a:spcAft>
              <a:defRPr sz="1100" b="0">
                <a:solidFill>
                  <a:srgbClr val="8D8D8D"/>
                </a:solidFill>
                <a:latin typeface="Arial"/>
              </a:defRPr>
            </a:pPr>
            <a:r>
              <a:t>68% of effort wasted on good programs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0" y="3758184"/>
            <a:ext cx="4389120" cy="731520"/>
          </a:xfrm>
          <a:prstGeom prst="roundRect">
            <a:avLst/>
          </a:prstGeom>
          <a:solidFill>
            <a:srgbClr val="D4E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200" b="1">
                <a:solidFill>
                  <a:srgbClr val="393939"/>
                </a:solidFill>
                <a:latin typeface="Arial"/>
              </a:defRPr>
            </a:pPr>
            <a:r>
              <a:t>Selective rescue (~32% of iterations)</a:t>
            </a:r>
          </a:p>
          <a:p>
            <a:pPr>
              <a:spcAft>
                <a:spcPts val="200"/>
              </a:spcAft>
              <a:defRPr sz="1100" b="0">
                <a:solidFill>
                  <a:srgbClr val="8D8D8D"/>
                </a:solidFill>
                <a:latin typeface="Arial"/>
              </a:defRPr>
            </a:pPr>
            <a:r>
              <a:t>+ polish at checkpoints and final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62856"/>
            <a:ext cx="228600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200" b="1">
                <a:solidFill>
                  <a:srgbClr val="002D5E"/>
                </a:solidFill>
                <a:latin typeface="Arial"/>
              </a:defRPr>
            </a:pPr>
            <a:r>
              <a:t>Trial Budget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4562856"/>
            <a:ext cx="4389120" cy="731520"/>
          </a:xfrm>
          <a:prstGeom prst="roundRect">
            <a:avLst/>
          </a:prstGeom>
          <a:solidFill>
            <a:srgbClr val="F8D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200" b="0">
                <a:solidFill>
                  <a:srgbClr val="393939"/>
                </a:solidFill>
                <a:latin typeface="Arial"/>
              </a:defRPr>
            </a:pPr>
            <a:r>
              <a:t>19 trials per program (flat)</a:t>
            </a:r>
          </a:p>
          <a:p>
            <a:pPr>
              <a:spcAft>
                <a:spcPts val="200"/>
              </a:spcAft>
              <a:defRPr sz="1100" b="0">
                <a:solidFill>
                  <a:srgbClr val="8D8D8D"/>
                </a:solidFill>
                <a:latin typeface="Arial"/>
              </a:defRPr>
            </a:pPr>
            <a:r>
              <a:t>+ 1 redundant post-tune eval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0" y="4562856"/>
            <a:ext cx="4389120" cy="731520"/>
          </a:xfrm>
          <a:prstGeom prst="roundRect">
            <a:avLst/>
          </a:prstGeom>
          <a:solidFill>
            <a:srgbClr val="D4E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200" b="1">
                <a:solidFill>
                  <a:srgbClr val="393939"/>
                </a:solidFill>
                <a:latin typeface="Arial"/>
              </a:defRPr>
            </a:pPr>
            <a:r>
              <a:t>5 rescue / 10 checkpoint / 20 final</a:t>
            </a:r>
          </a:p>
          <a:p>
            <a:pPr>
              <a:spcAft>
                <a:spcPts val="200"/>
              </a:spcAft>
              <a:defRPr sz="1100" b="0">
                <a:solidFill>
                  <a:srgbClr val="8D8D8D"/>
                </a:solidFill>
                <a:latin typeface="Arial"/>
              </a:defRPr>
            </a:pPr>
            <a:r>
              <a:t>Zero redundant evaluations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67528"/>
            <a:ext cx="2286000" cy="73152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200" b="1">
                <a:solidFill>
                  <a:srgbClr val="002D5E"/>
                </a:solidFill>
                <a:latin typeface="Arial"/>
              </a:defRPr>
            </a:pPr>
            <a:r>
              <a:t>Total Evals</a:t>
            </a:r>
            <a:br/>
            <a:r>
              <a:t>(25 iterations)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5367528"/>
            <a:ext cx="4389120" cy="731520"/>
          </a:xfrm>
          <a:prstGeom prst="roundRect">
            <a:avLst/>
          </a:prstGeom>
          <a:solidFill>
            <a:srgbClr val="F8D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200" b="0">
                <a:solidFill>
                  <a:srgbClr val="393939"/>
                </a:solidFill>
                <a:latin typeface="Arial"/>
              </a:defRPr>
            </a:pPr>
            <a:r>
              <a:t>~500 evaluations</a:t>
            </a:r>
          </a:p>
          <a:p>
            <a:pPr>
              <a:spcAft>
                <a:spcPts val="200"/>
              </a:spcAft>
              <a:defRPr sz="1100" b="0">
                <a:solidFill>
                  <a:srgbClr val="8D8D8D"/>
                </a:solidFill>
                <a:latin typeface="Arial"/>
              </a:defRPr>
            </a:pPr>
            <a:r>
              <a:t>~2.8 hours for BLIS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0" y="5367528"/>
            <a:ext cx="4389120" cy="731520"/>
          </a:xfrm>
          <a:prstGeom prst="roundRect">
            <a:avLst/>
          </a:prstGeom>
          <a:solidFill>
            <a:srgbClr val="D4E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200" b="1">
                <a:solidFill>
                  <a:srgbClr val="393939"/>
                </a:solidFill>
                <a:latin typeface="Arial"/>
              </a:defRPr>
            </a:pPr>
            <a:r>
              <a:t>~220 evaluations</a:t>
            </a:r>
          </a:p>
          <a:p>
            <a:pPr>
              <a:spcAft>
                <a:spcPts val="200"/>
              </a:spcAft>
              <a:defRPr sz="1100" b="0">
                <a:solidFill>
                  <a:srgbClr val="8D8D8D"/>
                </a:solidFill>
                <a:latin typeface="Arial"/>
              </a:defRPr>
            </a:pPr>
            <a:r>
              <a:t>~1.2 hours for BLIS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6172200"/>
            <a:ext cx="228600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200" b="1">
                <a:solidFill>
                  <a:srgbClr val="002D5E"/>
                </a:solidFill>
                <a:latin typeface="Arial"/>
              </a:defRPr>
            </a:pPr>
            <a:r>
              <a:t>LLM Creativity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800" y="6172200"/>
            <a:ext cx="4389120" cy="731520"/>
          </a:xfrm>
          <a:prstGeom prst="roundRect">
            <a:avLst/>
          </a:prstGeom>
          <a:solidFill>
            <a:srgbClr val="F8D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200" b="0">
                <a:solidFill>
                  <a:srgbClr val="393939"/>
                </a:solidFill>
                <a:latin typeface="Arial"/>
              </a:defRPr>
            </a:pPr>
            <a:r>
              <a:t>LLM designs for tunability</a:t>
            </a:r>
          </a:p>
          <a:p>
            <a:pPr>
              <a:spcAft>
                <a:spcPts val="200"/>
              </a:spcAft>
              <a:defRPr sz="1100" b="0">
                <a:solidFill>
                  <a:srgbClr val="8D8D8D"/>
                </a:solidFill>
                <a:latin typeface="Arial"/>
              </a:defRPr>
            </a:pPr>
            <a:r>
              <a:t>Structural innovation = rare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0" y="6172200"/>
            <a:ext cx="4389120" cy="731520"/>
          </a:xfrm>
          <a:prstGeom prst="roundRect">
            <a:avLst/>
          </a:prstGeom>
          <a:solidFill>
            <a:srgbClr val="D4E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200" b="1">
                <a:solidFill>
                  <a:srgbClr val="393939"/>
                </a:solidFill>
                <a:latin typeface="Arial"/>
              </a:defRPr>
            </a:pPr>
            <a:r>
              <a:t>LLM focuses on algorithms</a:t>
            </a:r>
          </a:p>
          <a:p>
            <a:pPr>
              <a:spcAft>
                <a:spcPts val="200"/>
              </a:spcAft>
              <a:defRPr sz="1100" b="0">
                <a:solidFill>
                  <a:srgbClr val="8D8D8D"/>
                </a:solidFill>
                <a:latin typeface="Arial"/>
              </a:defRPr>
            </a:pPr>
            <a:r>
              <a:t>Same innovation rate as control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6400800"/>
            <a:ext cx="11064240" cy="365760"/>
          </a:xfrm>
          <a:prstGeom prst="roundRect">
            <a:avLst/>
          </a:prstGeom>
          <a:solidFill>
            <a:srgbClr val="0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Core principle: the LLM invents algorithms, the optimizer handles numbers. Less prompt about tuning = more LLM creativity.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