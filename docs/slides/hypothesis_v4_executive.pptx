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Hypothesis-Driven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178BE"/>
                </a:solidFill>
                <a:latin typeface="Arial"/>
              </a:defRPr>
            </a:pPr>
            <a:r>
              <a:t>LLMs that explain their mutations and learn from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What Is 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146304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CLAIM</a:t>
            </a:r>
            <a:br/>
            <a:br/>
            <a:r>
              <a:t>HYPOTHESIS-N:</a:t>
            </a:r>
            <a:br/>
            <a:r>
              <a:t>What will improve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188720"/>
            <a:ext cx="3474720" cy="1463040"/>
          </a:xfrm>
          <a:prstGeom prst="roundRect">
            <a:avLst/>
          </a:prstGeom>
          <a:solidFill>
            <a:srgbClr val="41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REASON</a:t>
            </a:r>
            <a:br/>
            <a:br/>
            <a:r>
              <a:t>MECHANISM-N:</a:t>
            </a:r>
            <a:br/>
            <a:r>
              <a:t>Why it should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188720"/>
            <a:ext cx="3474720" cy="146304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PREDICTION</a:t>
            </a:r>
            <a:br/>
            <a:br/>
            <a:r>
              <a:t>EXPECT-N:</a:t>
            </a:r>
            <a:br/>
            <a:r>
              <a:t>metric &gt;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93939"/>
                </a:solidFill>
                <a:latin typeface="Arial"/>
              </a:defRPr>
            </a:pPr>
            <a:r>
              <a:t>Evaluate code   &gt;&gt;   Compare to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474720"/>
            <a:ext cx="3474720" cy="109728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RESULT-N: CONFIRMED</a:t>
            </a:r>
            <a:br/>
            <a:br/>
            <a:r>
              <a:t>Prediction held</a:t>
            </a:r>
            <a:br/>
            <a:r>
              <a:t>Strategy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474720"/>
            <a:ext cx="3474720" cy="109728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RESULT-N: REFUTED</a:t>
            </a:r>
            <a:br/>
            <a:br/>
            <a:r>
              <a:t>Prediction failed</a:t>
            </a:r>
            <a:br/>
            <a:r>
              <a:t>Avoid this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93939"/>
                </a:solidFill>
                <a:latin typeface="Arial"/>
              </a:defRPr>
            </a:pPr>
            <a:r>
              <a:t>Results are stamped INTO the code as comments.</a:t>
            </a:r>
            <a:br/>
            <a:r>
              <a:t>When this code is shown to the next LLM (as parent or top program),</a:t>
            </a:r>
            <a:br/>
            <a:r>
              <a:t>the LLM sees what worked and what failed — in context with the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How It 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548640" cy="54864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264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93939"/>
                </a:solidFill>
                <a:latin typeface="Arial"/>
              </a:defRPr>
            </a:pPr>
            <a:r>
              <a:t>LLM writes code + hypotheses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D8D8D"/>
                </a:solidFill>
                <a:latin typeface="Arial"/>
              </a:defRPr>
            </a:pPr>
            <a:r>
              <a:t>|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548640" cy="54864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70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93939"/>
                </a:solidFill>
                <a:latin typeface="Arial"/>
              </a:defRPr>
            </a:pPr>
            <a:r>
              <a:t>Evaluator runs code, returns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D8D8D"/>
                </a:solidFill>
                <a:latin typeface="Arial"/>
              </a:defRPr>
            </a:pPr>
            <a:r>
              <a:t>|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00400"/>
            <a:ext cx="548640" cy="54864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76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93939"/>
                </a:solidFill>
                <a:latin typeface="Arial"/>
              </a:defRPr>
            </a:pPr>
            <a:r>
              <a:t>Framework stamps RESULT into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94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D8D8D"/>
                </a:solidFill>
                <a:latin typeface="Arial"/>
              </a:defRPr>
            </a:pPr>
            <a:r>
              <a:t>|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06240"/>
            <a:ext cx="548640" cy="548640"/>
          </a:xfrm>
          <a:prstGeom prst="round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82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93939"/>
                </a:solidFill>
                <a:latin typeface="Arial"/>
              </a:defRPr>
            </a:pPr>
            <a:r>
              <a:t>Code stored in database (MAP-Elites)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800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D8D8D"/>
                </a:solidFill>
                <a:latin typeface="Arial"/>
              </a:defRPr>
            </a:pPr>
            <a:r>
              <a:t>|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12080"/>
            <a:ext cx="548640" cy="54864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288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93939"/>
                </a:solidFill>
                <a:latin typeface="Arial"/>
              </a:defRPr>
            </a:pPr>
            <a:r>
              <a:t>Next LLM sees code +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2D5E"/>
                </a:solidFill>
                <a:latin typeface="Arial"/>
              </a:defRPr>
            </a:pPr>
            <a:r>
              <a:t>Evaluators never touch hypotheses.</a:t>
            </a:r>
            <a:br/>
            <a:br/>
            <a:r>
              <a:t>No ledger. No knowledge base.</a:t>
            </a:r>
            <a:br/>
            <a:r>
              <a:t>No artifacts. No extra infrastructure.</a:t>
            </a:r>
            <a:br/>
            <a:br/>
            <a:r>
              <a:t>Hypotheses travel with the code</a:t>
            </a:r>
            <a:br/>
            <a:r>
              <a:t>through OpenEvolve's existing</a:t>
            </a:r>
            <a:br/>
            <a:r>
              <a:t>parent/top-program/inspiration</a:t>
            </a:r>
            <a:br/>
            <a:r>
              <a:t>selection mechanisms.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Built On, Not Built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39E"/>
                </a:solidFill>
                <a:latin typeface="Arial"/>
              </a:defRPr>
            </a:pPr>
            <a:r>
              <a:t>OpenEvolve provides: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93939"/>
                </a:solidFill>
                <a:latin typeface="Menlo"/>
              </a:defRPr>
            </a:pPr>
            <a:r>
              <a:t>Parent selection     (carries hypotheses)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93939"/>
                </a:solidFill>
                <a:latin typeface="Menlo"/>
              </a:defRPr>
            </a:pPr>
            <a:r>
              <a:t>Top programs         (carries strategies)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93939"/>
                </a:solidFill>
                <a:latin typeface="Menlo"/>
              </a:defRPr>
            </a:pPr>
            <a:r>
              <a:t>Inspirations         (carries diversity)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93939"/>
                </a:solidFill>
                <a:latin typeface="Menlo"/>
              </a:defRPr>
            </a:pPr>
            <a:r>
              <a:t>Island isolation     (localizes learning)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93939"/>
                </a:solidFill>
                <a:latin typeface="Menlo"/>
              </a:defRPr>
            </a:pPr>
            <a:r>
              <a:t>Migration            (spreads successes)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93939"/>
                </a:solidFill>
                <a:latin typeface="Menlo"/>
              </a:defRPr>
            </a:pPr>
            <a:r>
              <a:t>Checkpointing        (persists everything)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4A148"/>
                </a:solidFill>
                <a:latin typeface="Arial"/>
              </a:defRPr>
            </a:pPr>
            <a:r>
              <a:t>We added ~40 lines: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93939"/>
                </a:solidFill>
                <a:latin typeface="Menlo"/>
              </a:defRPr>
            </a:pPr>
            <a:r>
              <a:t>inject_result_comments()    hypothesis.py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423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93939"/>
                </a:solidFill>
                <a:latin typeface="Menlo"/>
              </a:defRPr>
            </a:pPr>
            <a:r>
              <a:t>5 lines after eval          iteration.py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93939"/>
                </a:solidFill>
                <a:latin typeface="Menlo"/>
              </a:defRPr>
            </a:pPr>
            <a:r>
              <a:t>5 lines after eval          process_parallel.py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93939"/>
                </a:solidFill>
                <a:latin typeface="Menlo"/>
              </a:defRPr>
            </a:pPr>
            <a:r>
              <a:t>Prompt template update      templates.py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D5E"/>
                </a:solidFill>
                <a:latin typeface="Arial"/>
              </a:defRPr>
            </a:pPr>
            <a:r>
              <a:t>Deleted ~200 lines of evaluator boilerplate. Net: ~270 fewer 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