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D5E"/>
                </a:solidFill>
                <a:latin typeface="Arial"/>
              </a:defRPr>
            </a:pPr>
            <a:r>
              <a:t>A Program's Journey Through Tuning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D8D8D"/>
                </a:solidFill>
                <a:latin typeface="Arial"/>
              </a:defRPr>
            </a:pPr>
            <a:r>
              <a:t>Follow one program from LLM generation through rescue, evolution, and final polish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32B"/>
                </a:solidFill>
                <a:latin typeface="Arial"/>
              </a:defRPr>
            </a:pPr>
            <a:r>
              <a:t>Rescue Path (per iteration)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560320" cy="9144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LLM Generates</a:t>
            </a:r>
          </a:p>
          <a:p>
            <a:pPr>
              <a:spcAft>
                <a:spcPts val="200"/>
              </a:spcAft>
              <a:defRPr sz="1000" b="0">
                <a:solidFill>
                  <a:srgbClr val="E0E0E0"/>
                </a:solidFill>
                <a:latin typeface="Arial"/>
              </a:defRPr>
            </a:pPr>
            <a:r>
              <a:t>temp = 0.5  # @TUNE [0.1, 2.0]</a:t>
            </a:r>
          </a:p>
          <a:p>
            <a:pPr>
              <a:spcAft>
                <a:spcPts val="200"/>
              </a:spcAft>
              <a:defRPr sz="1000" b="0">
                <a:solidFill>
                  <a:srgbClr val="E0E0E0"/>
                </a:solidFill>
                <a:latin typeface="Arial"/>
              </a:defRPr>
            </a:pPr>
            <a:r>
              <a:t>decay = 0.01 # @TUNE [0.001, 0.1]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2331720"/>
            <a:ext cx="365760" cy="274320"/>
          </a:xfrm>
          <a:prstGeom prst="rightArrow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2011680"/>
            <a:ext cx="2560320" cy="914400"/>
          </a:xfrm>
          <a:prstGeom prst="roundRect">
            <a:avLst/>
          </a:prstGeom>
          <a:solidFill>
            <a:srgbClr val="417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Pre-Evaluate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Score: 0.38</a:t>
            </a:r>
          </a:p>
          <a:p>
            <a:pPr>
              <a:spcAft>
                <a:spcPts val="200"/>
              </a:spcAft>
              <a:defRPr sz="1100" b="0">
                <a:solidFill>
                  <a:srgbClr val="FFF3CD"/>
                </a:solidFill>
                <a:latin typeface="Arial"/>
              </a:defRPr>
            </a:pPr>
            <a:r>
              <a:t>Below median (0.72)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217920" y="2331720"/>
            <a:ext cx="365760" cy="274320"/>
          </a:xfrm>
          <a:prstGeom prst="rightArrow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0" y="2011680"/>
            <a:ext cx="2560320" cy="914400"/>
          </a:xfrm>
          <a:prstGeom prst="roundRect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Rescue Decision</a:t>
            </a:r>
          </a:p>
          <a:p>
            <a:pPr>
              <a:spcAft>
                <a:spcPts val="200"/>
              </a:spcAft>
              <a:defRPr sz="1100" b="0">
                <a:solidFill>
                  <a:srgbClr val="D4EDDA"/>
                </a:solidFill>
                <a:latin typeface="Arial"/>
              </a:defRPr>
            </a:pPr>
            <a:r>
              <a:t>Novel? YES (high diversity)</a:t>
            </a:r>
          </a:p>
          <a:p>
            <a:pPr>
              <a:spcAft>
                <a:spcPts val="200"/>
              </a:spcAft>
              <a:defRPr sz="1100" b="0">
                <a:solidFill>
                  <a:srgbClr val="D4EDDA"/>
                </a:solidFill>
                <a:latin typeface="Arial"/>
              </a:defRPr>
            </a:pPr>
            <a:r>
              <a:t>Low score? YES (&lt; median)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81160" y="2331720"/>
            <a:ext cx="365760" cy="274320"/>
          </a:xfrm>
          <a:prstGeom prst="rightArrow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38360" y="2011680"/>
            <a:ext cx="2560320" cy="9144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Optuna Rescue (5 trials)</a:t>
            </a:r>
          </a:p>
          <a:p>
            <a:pPr>
              <a:spcAft>
                <a:spcPts val="200"/>
              </a:spcAft>
              <a:defRPr sz="1100" b="0">
                <a:solidFill>
                  <a:srgbClr val="D4EDDA"/>
                </a:solidFill>
                <a:latin typeface="Arial"/>
              </a:defRPr>
            </a:pPr>
            <a:r>
              <a:t>temp: 0.5 -&gt; 1.2</a:t>
            </a:r>
          </a:p>
          <a:p>
            <a:pPr>
              <a:spcAft>
                <a:spcPts val="200"/>
              </a:spcAft>
              <a:defRPr sz="1100" b="0">
                <a:solidFill>
                  <a:srgbClr val="D4EDDA"/>
                </a:solidFill>
                <a:latin typeface="Arial"/>
              </a:defRPr>
            </a:pPr>
            <a:r>
              <a:t>Score: 0.38 -&gt; 0.89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D5E"/>
                </a:solidFill>
                <a:latin typeface="Arial"/>
              </a:defRPr>
            </a:pPr>
            <a:r>
              <a:t>What the LLM Sees (minimal prompt, no @TUNED)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5029200" cy="109728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100" b="1">
                <a:solidFill>
                  <a:srgbClr val="A0D0FF"/>
                </a:solidFill>
                <a:latin typeface="Arial"/>
              </a:defRPr>
            </a:pPr>
            <a:r>
              <a:t>## Automatic Parameter Optimization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E0E0E0"/>
                </a:solidFill>
                <a:latin typeface="Arial"/>
              </a:defRPr>
            </a:pPr>
            <a:r>
              <a:t>An optimizer automatically tunes numeric parameters</a:t>
            </a:r>
          </a:p>
          <a:p>
            <a:pPr>
              <a:spcAft>
                <a:spcPts val="200"/>
              </a:spcAft>
              <a:defRPr sz="1100" b="0">
                <a:solidFill>
                  <a:srgbClr val="E0E0E0"/>
                </a:solidFill>
                <a:latin typeface="Arial"/>
              </a:defRPr>
            </a:pPr>
            <a:r>
              <a:t>in your code after generation. If your code has a</a:t>
            </a:r>
          </a:p>
          <a:p>
            <a:pPr>
              <a:spcAft>
                <a:spcPts val="200"/>
              </a:spcAft>
              <a:defRPr sz="1100" b="0">
                <a:solidFill>
                  <a:srgbClr val="E0E0E0"/>
                </a:solidFill>
                <a:latin typeface="Arial"/>
              </a:defRPr>
            </a:pPr>
            <a:r>
              <a:t>numeric value you're uncertain about, mark it:</a:t>
            </a:r>
          </a:p>
          <a:p>
            <a:pPr>
              <a:spcAft>
                <a:spcPts val="200"/>
              </a:spcAft>
              <a:defRPr sz="1100" b="0">
                <a:solidFill>
                  <a:srgbClr val="80FF80"/>
                </a:solidFill>
                <a:latin typeface="Arial"/>
              </a:defRPr>
            </a:pPr>
            <a:r>
              <a:t>  var = value  # @TUNE [min, max]</a:t>
            </a:r>
          </a:p>
          <a:p>
            <a:pPr>
              <a:spcAft>
                <a:spcPts val="200"/>
              </a:spcAft>
              <a:defRPr sz="1100" b="0">
                <a:solidFill>
                  <a:srgbClr val="E0E0E0"/>
                </a:solidFill>
                <a:latin typeface="Arial"/>
              </a:defRPr>
            </a:pPr>
            <a:r>
              <a:t>Focus on better algorithms, not better numbers.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A1E28"/>
                </a:solidFill>
                <a:latin typeface="Arial"/>
              </a:defRPr>
            </a:pPr>
            <a:r>
              <a:t>What the LLM Does NOT See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703320"/>
            <a:ext cx="5029200" cy="1097280"/>
          </a:xfrm>
          <a:prstGeom prst="roundRect">
            <a:avLst/>
          </a:prstGeom>
          <a:solidFill>
            <a:srgbClr val="F8D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300" b="0">
                <a:solidFill>
                  <a:srgbClr val="DA1E28"/>
                </a:solidFill>
                <a:latin typeface="Arial"/>
              </a:defRPr>
            </a:pPr>
            <a:r>
              <a:t>@TUNED annotations (gain, was, best_impact)</a:t>
            </a:r>
          </a:p>
          <a:p>
            <a:pPr>
              <a:spcAft>
                <a:spcPts val="200"/>
              </a:spcAft>
              <a:defRPr sz="1300" b="0">
                <a:solidFill>
                  <a:srgbClr val="DA1E28"/>
                </a:solidFill>
                <a:latin typeface="Arial"/>
              </a:defRPr>
            </a:pPr>
            <a:r>
              <a:t>Tuning trial results or metrics</a:t>
            </a:r>
          </a:p>
          <a:p>
            <a:pPr>
              <a:spcAft>
                <a:spcPts val="200"/>
              </a:spcAft>
              <a:defRPr sz="1300" b="0">
                <a:solidFill>
                  <a:srgbClr val="DA1E28"/>
                </a:solidFill>
                <a:latin typeface="Arial"/>
              </a:defRPr>
            </a:pPr>
            <a:r>
              <a:t>Which parameters were sensitive</a:t>
            </a:r>
          </a:p>
          <a:p>
            <a:pPr>
              <a:spcAft>
                <a:spcPts val="200"/>
              </a:spcAft>
              <a:defRPr sz="1300" b="0">
                <a:solidFill>
                  <a:srgbClr val="DA1E28"/>
                </a:solidFill>
                <a:latin typeface="Arial"/>
              </a:defRPr>
            </a:pPr>
            <a:r>
              <a:t>Any guidance on parameter selection</a:t>
            </a:r>
          </a:p>
          <a:p>
            <a:pPr>
              <a:spcAft>
                <a:spcPts val="2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393939"/>
                </a:solidFill>
                <a:latin typeface="Arial"/>
              </a:defRPr>
            </a:pPr>
            <a:r>
              <a:t>LLM stays focused on algorithms, not numbers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39E"/>
                </a:solidFill>
                <a:latin typeface="Arial"/>
              </a:defRPr>
            </a:pPr>
            <a:r>
              <a:t>Polish Path (at checkpoints and final iteration)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86400"/>
            <a:ext cx="3200400" cy="1188720"/>
          </a:xfrm>
          <a:prstGeom prst="roundRect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Checkpoint Polish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Every 5 iterations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Top-3 elites per island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10 trials each</a:t>
            </a:r>
          </a:p>
          <a:p>
            <a:pPr>
              <a:spcAft>
                <a:spcPts val="200"/>
              </a:spcAft>
              <a:defRPr sz="1100" b="0">
                <a:solidFill>
                  <a:srgbClr val="D4EDDA"/>
                </a:solidFill>
                <a:latin typeface="Arial"/>
              </a:defRPr>
            </a:pPr>
            <a:r>
              <a:t>Improves parents for next gen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931920" y="5897880"/>
            <a:ext cx="457200" cy="274320"/>
          </a:xfrm>
          <a:prstGeom prst="rightArrow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0" y="5486400"/>
            <a:ext cx="2286000" cy="1188720"/>
          </a:xfrm>
          <a:prstGeom prst="roundRect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Evolution Continues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LLM builds on polished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parents with better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parameter values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40880" y="5897880"/>
            <a:ext cx="457200" cy="274320"/>
          </a:xfrm>
          <a:prstGeom prst="rightArrow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80960" y="5486400"/>
            <a:ext cx="3200400" cy="118872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Final Polish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Last iteration only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Top-3 elites per island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20 trials each (thorough)</a:t>
            </a:r>
          </a:p>
          <a:p>
            <a:pPr>
              <a:spcAft>
                <a:spcPts val="200"/>
              </a:spcAft>
              <a:defRPr sz="1100" b="0">
                <a:solidFill>
                  <a:srgbClr val="D4EDDA"/>
                </a:solidFill>
                <a:latin typeface="Arial"/>
              </a:defRPr>
            </a:pPr>
            <a:r>
              <a:t>Squeeze out final parameter gains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