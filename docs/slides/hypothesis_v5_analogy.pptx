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Hypothesis-Driven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39E"/>
                </a:solidFill>
                <a:latin typeface="Arial"/>
              </a:defRPr>
            </a:pPr>
            <a:r>
              <a:t>Turning a trial-and-error loop</a:t>
            </a:r>
            <a:br/>
            <a:r>
              <a:t>into a scientific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8D8D"/>
                </a:solidFill>
                <a:latin typeface="Arial"/>
              </a:defRPr>
            </a:pPr>
            <a:r>
              <a:t>OpenEvolve  |  V3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From Trial-and-Error to Scientific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94960" cy="5303520"/>
          </a:xfrm>
          <a:prstGeom prst="rect">
            <a:avLst/>
          </a:prstGeom>
          <a:solidFill>
            <a:srgbClr val="F4F4F4"/>
          </a:solidFill>
          <a:ln w="12700">
            <a:solidFill>
              <a:srgbClr val="8D8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A1E28"/>
                </a:solidFill>
                <a:latin typeface="Arial"/>
              </a:defRPr>
            </a:pPr>
            <a:r>
              <a:t>Trial-and-Error Scientist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"I'll try adding more heat"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Result: 72% yield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"I'll try a different catalyst"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Result: 68% yield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"I'll try more heat again"   &lt;-- repeats!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Result: 71% yield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DA1E28"/>
                </a:solidFill>
                <a:latin typeface="Arial"/>
              </a:defRPr>
            </a:pPr>
            <a:r>
              <a:t>Problems: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No record of reasoning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Repeats failed experiments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Can't build on successes systematically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Colleagues can't learn from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394960" cy="5303520"/>
          </a:xfrm>
          <a:prstGeom prst="rect">
            <a:avLst/>
          </a:prstGeom>
          <a:solidFill>
            <a:srgbClr val="F0FAF0"/>
          </a:solidFill>
          <a:ln w="12700">
            <a:solidFill>
              <a:srgbClr val="00B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39E"/>
                </a:solidFill>
                <a:latin typeface="Arial"/>
              </a:defRPr>
            </a:pPr>
            <a:r>
              <a:t>Hypothesis-Driven Scientist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"H1: More heat increases yield because it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accelerates the rate-limiting step"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Predict: yield &gt; 80%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Result: CONFIRMED (actual=85%)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"H2: Catalyst X reduces side-reactions"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Predict: purity &gt; 95%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  Result: REFUTED (actual=88%)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B39E"/>
                </a:solidFill>
                <a:latin typeface="Arial"/>
              </a:defRPr>
            </a:pPr>
            <a:r>
              <a:t>Benefits: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Each experiment has a stated prediction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Outcomes recorded next to reasoning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Others read the notebook and build on it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Failed paths documented, not repeated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Mapping to OpenEvolve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D8D8D"/>
                </a:solidFill>
                <a:latin typeface="Arial"/>
              </a:defRPr>
            </a:pPr>
            <a:r>
              <a:t>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D8D8D"/>
                </a:solidFill>
                <a:latin typeface="Arial"/>
              </a:defRPr>
            </a:pPr>
            <a:r>
              <a:t>OpenEvolve Equivalent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D8D8D"/>
                </a:solidFill>
                <a:latin typeface="Arial"/>
              </a:defRPr>
            </a:pPr>
            <a:r>
              <a:t>What It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Scientist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08760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722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Generates mutations (experiments)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39112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039112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HYPOTHESIS-N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26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One-line claim about what improves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9464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569464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MECHANISM-N comment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329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Causal explanation of 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099816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EXPECT-N comment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633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metric_name &lt; or &gt;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30168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Lab notebook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630168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The code itself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936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Comments live in code, travel with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60520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Experiment result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4160520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RESULT-N 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240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CONFIRMED / REFUTED / INCONCLUSIVE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90872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Colleagues reading notes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690872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Next LLM iteration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543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Sees parent + top programs'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21224"/>
            <a:ext cx="2286000" cy="457200"/>
          </a:xfrm>
          <a:prstGeom prst="round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393939"/>
                </a:solidFill>
                <a:latin typeface="Arial"/>
              </a:defRPr>
            </a:pPr>
            <a:r>
              <a:t>Research group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5221224"/>
            <a:ext cx="32004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200" b="1">
                <a:solidFill>
                  <a:srgbClr val="FFFFFF"/>
                </a:solidFill>
                <a:latin typeface="Menlo"/>
              </a:defRPr>
            </a:pPr>
            <a:r>
              <a:t>MAP-Elites islands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847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Independent populations with 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25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D5E"/>
                </a:solidFill>
                <a:latin typeface="Arial"/>
              </a:defRPr>
            </a:pPr>
            <a:r>
              <a:t>The "lab notebook" IS the code. No separate storage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Experiment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6400800" cy="53035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Iteration N: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1. FORM HYPOTHESIS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LLM reads: system prompt + parent code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(with RESULT lines from prior experiments)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+ top programs (with their RESULTs)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LLM writes: HYPOTHESIS + MECHANISM + EXPECT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2. RUN EXPERIMENT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Evaluator runs evolved code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Returns metrics (hypothesis-unaware)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3. RECORD OUTCOME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Framework compares EXPECT vs actual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Stamps RESULT-N into the code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Code stored in database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4. SHARE FINDINGS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Code (with results) may become: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- Parent for next iteration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- Top program (visible to all on island)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- Inspiration (visible cross-island)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Iteration N+1: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LLM sees prior results -&gt; forms better hypotheses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   -&gt; cycle continues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39E"/>
                </a:solidFill>
                <a:latin typeface="Arial"/>
              </a:defRPr>
            </a:pPr>
            <a:r>
              <a:t>What OpenEvolve gives us for free: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Parent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879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Carries hypotheses to child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37744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Top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428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Best strategies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92608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Inspirations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976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Diverse approaches shared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47472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Islands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525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Local experimentation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02336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074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Spread winning strategies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72000"/>
            <a:ext cx="2011680" cy="41148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Checkpoints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622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Full experiment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D5E"/>
                </a:solidFill>
                <a:latin typeface="Arial"/>
              </a:defRPr>
            </a:pPr>
            <a:r>
              <a:t>Total new code: ~40 lines</a:t>
            </a:r>
            <a:br/>
            <a:r>
              <a:t>Deleted evaluator boilerplate: ~200 lines</a:t>
            </a:r>
            <a:br/>
            <a:r>
              <a:t>Net: -270 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What The LLM Actually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5E"/>
                </a:solidFill>
                <a:latin typeface="Arial"/>
              </a:defRPr>
            </a:pPr>
            <a:r>
              <a:t>Parent program (from previous iteration):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HYPOTHESIS-1: Multi-start search escapes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local minima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MECHANISM-1: Random restarts sample more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basins in the landscape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EXPECT-1: combined_score &gt; 0.8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RESULT-1: CONFIRMED (actual=0.92)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HYPOTHESIS-2: Larger step size speeds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  convergence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MECHANISM-2: Coarse-to-fine search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EXPECT-2: distance_score &gt; 0.9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RESULT-2: REFUTED (actual=0.71)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def solve(x):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best = None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for _ in range(5):  # multi-start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candidate = local_search(x)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if best is None or f(candidate) &gt; f(best):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    best = candidate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return best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EVOLVE-BLOCK-END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39E"/>
                </a:solidFill>
                <a:latin typeface="Arial"/>
              </a:defRPr>
            </a:pPr>
            <a:r>
              <a:t>What the LLM learns from this: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4A148"/>
                </a:solidFill>
                <a:latin typeface="Arial"/>
              </a:defRPr>
            </a:pPr>
            <a:r>
              <a:t>From RESULT-1: CONFIRMED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Multi-start search works!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The mechanism (random restarts) was correct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Build on this: maybe try more restarts?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DA1E28"/>
                </a:solidFill>
                <a:latin typeface="Arial"/>
              </a:defRPr>
            </a:pPr>
            <a:r>
              <a:t>From RESULT-2: REFUTED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Larger step size did NOT help distance_score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The coarse-to-fine mechanism failed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Don't repeat this; try alternative approaches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1">
                <a:solidFill>
                  <a:srgbClr val="002D5E"/>
                </a:solidFill>
                <a:latin typeface="Arial"/>
              </a:defRPr>
            </a:pPr>
            <a:r>
              <a:t>The LLM's next mutation can be smarter: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Keep multi-start (CONFIRMED)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Fix or replace the step-size strategy (REFUTED)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Form new hypotheses about distance_score</a:t>
            </a:r>
          </a:p>
          <a:p>
            <a:pPr>
              <a:spcAft>
                <a:spcPts val="640"/>
              </a:spcAft>
              <a:defRPr sz="1600" b="0">
                <a:solidFill>
                  <a:srgbClr val="393939"/>
                </a:solidFill>
                <a:latin typeface="Arial"/>
              </a:defRPr>
            </a:pPr>
            <a:r>
              <a:t>Set thresholds 5-10% beyond current actuals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