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400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30" d="100"/>
          <a:sy n="130" d="100"/>
        </p:scale>
        <p:origin x="166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2D5E"/>
                </a:solidFill>
                <a:latin typeface="Arial"/>
              </a:defRPr>
            </a:pPr>
            <a:r>
              <a:rPr dirty="0"/>
              <a:t>Executive Summary — Hypothesis A/B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93939"/>
                </a:solidFill>
                <a:latin typeface="Arial"/>
              </a:defRPr>
            </a:pPr>
            <a:r>
              <a:rPr dirty="0"/>
              <a:t>Does structured scientific reasoning (HYPOTHESIS → RESULT) improve </a:t>
            </a:r>
            <a:r>
              <a:rPr lang="en-US" dirty="0" err="1"/>
              <a:t>OpenEvolve</a:t>
            </a:r>
            <a:r>
              <a:rPr dirty="0"/>
              <a:t> code evolution?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8229600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Experiment</a:t>
                      </a:r>
                    </a:p>
                  </a:txBody>
                  <a:tcPr>
                    <a:solidFill>
                      <a:srgbClr val="00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Models</a:t>
                      </a:r>
                    </a:p>
                  </a:txBody>
                  <a:tcPr>
                    <a:solidFill>
                      <a:srgbClr val="00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Metrics</a:t>
                      </a:r>
                    </a:p>
                  </a:txBody>
                  <a:tcPr>
                    <a:solidFill>
                      <a:srgbClr val="00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Delta</a:t>
                      </a:r>
                    </a:p>
                  </a:txBody>
                  <a:tcPr>
                    <a:solidFill>
                      <a:srgbClr val="00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Winner</a:t>
                      </a:r>
                    </a:p>
                  </a:txBody>
                  <a:tcPr>
                    <a:solidFill>
                      <a:srgbClr val="002D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Web Scraper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GPT-4o + Sonnet 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4 (acc, comp, robust, parse)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+12.4%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TREATMENT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BLIS Router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Opus 4.5 + Sonnet 4.5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5+ (latency, throughput, SLO)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+4.6%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TREATMENT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Rust Sort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GPT-5.2 + Opus 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5 (perf, adapt, correct)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+0.0005%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Tie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Circle Packing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GPT-5.2 + Opus 4.6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1 (sum_radii)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-0.76%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CONTROL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Func Minimization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Gemini Flash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1 (combined)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-0.76%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CONTROL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3520440"/>
            <a:ext cx="3840480" cy="2164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79"/>
              </a:spcAft>
              <a:defRPr sz="1200" b="1">
                <a:solidFill>
                  <a:srgbClr val="002D5E"/>
                </a:solidFill>
                <a:latin typeface="Arial"/>
              </a:defRPr>
            </a:pPr>
            <a:r>
              <a:rPr dirty="0"/>
              <a:t>When Hypotheses</a:t>
            </a:r>
            <a:r>
              <a:rPr lang="en-US" dirty="0"/>
              <a:t>-driven Evolution</a:t>
            </a:r>
            <a:r>
              <a:rPr dirty="0"/>
              <a:t> Help:</a:t>
            </a:r>
          </a:p>
          <a:p>
            <a:pPr>
              <a:spcAft>
                <a:spcPts val="379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rPr dirty="0"/>
              <a:t>1. Multi-metric feedback (tradeoffs to reason about)</a:t>
            </a:r>
          </a:p>
          <a:p>
            <a:pPr>
              <a:spcAft>
                <a:spcPts val="379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rPr dirty="0"/>
              <a:t>2. Problem hard enough (not solved in &lt;5 iterations)</a:t>
            </a:r>
          </a:p>
          <a:p>
            <a:pPr>
              <a:spcAft>
                <a:spcPts val="379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rPr dirty="0"/>
              <a:t>3. Capable model (inject rate &gt;40%)</a:t>
            </a:r>
          </a:p>
          <a:p>
            <a:pPr>
              <a:spcAft>
                <a:spcPts val="379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endParaRPr dirty="0"/>
          </a:p>
          <a:p>
            <a:pPr>
              <a:spcAft>
                <a:spcPts val="379"/>
              </a:spcAft>
              <a:defRPr sz="1200" b="1">
                <a:solidFill>
                  <a:srgbClr val="DA1E28"/>
                </a:solidFill>
                <a:latin typeface="Arial"/>
              </a:defRPr>
            </a:pPr>
            <a:r>
              <a:rPr dirty="0"/>
              <a:t>When They </a:t>
            </a:r>
            <a:r>
              <a:rPr lang="en-US" dirty="0"/>
              <a:t>Don’t</a:t>
            </a:r>
            <a:r>
              <a:rPr dirty="0"/>
              <a:t>:</a:t>
            </a:r>
          </a:p>
          <a:p>
            <a:pPr>
              <a:spcAft>
                <a:spcPts val="379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rPr dirty="0"/>
              <a:t>• Single scalar metric — nothing to reason about</a:t>
            </a:r>
          </a:p>
          <a:p>
            <a:pPr>
              <a:spcAft>
                <a:spcPts val="379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rPr dirty="0"/>
              <a:t>• Weak model — can't follow hypothesis format</a:t>
            </a:r>
          </a:p>
          <a:p>
            <a:pPr>
              <a:spcAft>
                <a:spcPts val="379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rPr dirty="0"/>
              <a:t>• Too easy — ceiling reached before reasoning helps</a:t>
            </a:r>
          </a:p>
        </p:txBody>
      </p:sp>
      <p:pic>
        <p:nvPicPr>
          <p:cNvPr id="6" name="Picture 5" descr="convergence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6038" y="3729162"/>
            <a:ext cx="2377440" cy="175723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97275" y="350028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4A148"/>
                </a:solidFill>
                <a:latin typeface="Arial"/>
              </a:defRPr>
            </a:pPr>
            <a:r>
              <a:t>Web Scraper (+12.4%)</a:t>
            </a:r>
          </a:p>
        </p:txBody>
      </p:sp>
      <p:pic>
        <p:nvPicPr>
          <p:cNvPr id="8" name="Picture 7" descr="convergence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3793123"/>
            <a:ext cx="2290904" cy="169327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66560" y="352093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4A148"/>
                </a:solidFill>
                <a:latin typeface="Arial"/>
              </a:defRPr>
            </a:pPr>
            <a:r>
              <a:t>BLIS Router (+4.6%)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2D5E"/>
                </a:solidFill>
                <a:latin typeface="Arial"/>
              </a:defRPr>
            </a:pPr>
            <a:r>
              <a:t>V2: Results by Outcome — Helped / Marginal / Hurt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4A148"/>
                </a:solidFill>
                <a:latin typeface="Arial"/>
              </a:defRPr>
            </a:pPr>
            <a:r>
              <a:t>HELPED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64"/>
              </a:spcAft>
              <a:defRPr sz="1100" b="1">
                <a:solidFill>
                  <a:srgbClr val="24A148"/>
                </a:solidFill>
                <a:latin typeface="Arial"/>
              </a:defRPr>
            </a:pPr>
            <a:r>
              <a:t>Web Scraper: +12.4%</a:t>
            </a:r>
          </a:p>
          <a:p>
            <a:pPr>
              <a:spcAft>
                <a:spcPts val="364"/>
              </a:spcAft>
              <a:defRPr sz="1100" b="0">
                <a:solidFill>
                  <a:srgbClr val="393939"/>
                </a:solidFill>
                <a:latin typeface="Arial"/>
              </a:defRPr>
            </a:pPr>
            <a:r>
              <a:t>GPT-4o + Sonnet 4.5 | 4 metrics</a:t>
            </a:r>
          </a:p>
          <a:p>
            <a:pPr>
              <a:spcAft>
                <a:spcPts val="364"/>
              </a:spcAft>
              <a:defRPr sz="1100" b="0">
                <a:solidFill>
                  <a:srgbClr val="000000"/>
                </a:solidFill>
                <a:latin typeface="Arial"/>
              </a:defRPr>
            </a:pPr>
            <a:r>
              <a:t>Treatment 0.805 vs Control 0.716</a:t>
            </a:r>
          </a:p>
          <a:p>
            <a:pPr>
              <a:spcAft>
                <a:spcPts val="364"/>
              </a:spcAft>
              <a:defRPr sz="1100" b="0">
                <a:solidFill>
                  <a:srgbClr val="000000"/>
                </a:solidFill>
                <a:latin typeface="Arial"/>
              </a:defRPr>
            </a:pPr>
            <a:r>
              <a:t>Control seed=501 stuck at initial score</a:t>
            </a:r>
          </a:p>
        </p:txBody>
      </p:sp>
      <p:pic>
        <p:nvPicPr>
          <p:cNvPr id="5" name="Picture 4" descr="convergence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377440"/>
            <a:ext cx="2651760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43434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64"/>
              </a:spcAft>
              <a:defRPr sz="1100" b="1">
                <a:solidFill>
                  <a:srgbClr val="24A148"/>
                </a:solidFill>
                <a:latin typeface="Arial"/>
              </a:defRPr>
            </a:pPr>
            <a:r>
              <a:t>BLIS Router: +4.6%</a:t>
            </a:r>
          </a:p>
          <a:p>
            <a:pPr>
              <a:spcAft>
                <a:spcPts val="364"/>
              </a:spcAft>
              <a:defRPr sz="1100" b="0">
                <a:solidFill>
                  <a:srgbClr val="393939"/>
                </a:solidFill>
                <a:latin typeface="Arial"/>
              </a:defRPr>
            </a:pPr>
            <a:r>
              <a:t>Opus + Sonnet | 5+ metrics</a:t>
            </a:r>
          </a:p>
          <a:p>
            <a:pPr>
              <a:spcAft>
                <a:spcPts val="364"/>
              </a:spcAft>
              <a:defRPr sz="1100" b="0">
                <a:solidFill>
                  <a:srgbClr val="000000"/>
                </a:solidFill>
                <a:latin typeface="Arial"/>
              </a:defRPr>
            </a:pPr>
            <a:r>
              <a:t>Treatment -3876 vs Control -4053</a:t>
            </a:r>
          </a:p>
          <a:p>
            <a:pPr>
              <a:spcAft>
                <a:spcPts val="364"/>
              </a:spcAft>
              <a:defRPr sz="1100" b="0">
                <a:solidFill>
                  <a:srgbClr val="000000"/>
                </a:solidFill>
                <a:latin typeface="Arial"/>
              </a:defRPr>
            </a:pPr>
            <a:r>
              <a:t>13x lower variance (IQR 27 vs 341)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731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32B"/>
                </a:solidFill>
                <a:latin typeface="Arial"/>
              </a:defRPr>
            </a:pPr>
            <a:r>
              <a:t>MARGINAL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05156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64"/>
              </a:spcAft>
              <a:defRPr sz="1100" b="1">
                <a:solidFill>
                  <a:srgbClr val="FF832B"/>
                </a:solidFill>
                <a:latin typeface="Arial"/>
              </a:defRPr>
            </a:pPr>
            <a:r>
              <a:t>Rust Sort: +0.0005%</a:t>
            </a:r>
          </a:p>
          <a:p>
            <a:pPr>
              <a:spcAft>
                <a:spcPts val="364"/>
              </a:spcAft>
              <a:defRPr sz="1100" b="0">
                <a:solidFill>
                  <a:srgbClr val="393939"/>
                </a:solidFill>
                <a:latin typeface="Arial"/>
              </a:defRPr>
            </a:pPr>
            <a:r>
              <a:t>GPT-5.2 + Opus 4.6 | 5 metrics</a:t>
            </a:r>
          </a:p>
          <a:p>
            <a:pPr>
              <a:spcAft>
                <a:spcPts val="364"/>
              </a:spcAft>
              <a:defRPr sz="1100" b="0">
                <a:solidFill>
                  <a:srgbClr val="000000"/>
                </a:solidFill>
                <a:latin typeface="Arial"/>
              </a:defRPr>
            </a:pPr>
            <a:r>
              <a:t>Both reach 0.9998 — problem too easy</a:t>
            </a:r>
          </a:p>
          <a:p>
            <a:pPr>
              <a:spcAft>
                <a:spcPts val="364"/>
              </a:spcAft>
              <a:defRPr sz="1100" b="0">
                <a:solidFill>
                  <a:srgbClr val="000000"/>
                </a:solidFill>
                <a:latin typeface="Arial"/>
              </a:defRPr>
            </a:pPr>
            <a:r>
              <a:t>Treatment converges 5 iters faster</a:t>
            </a:r>
          </a:p>
        </p:txBody>
      </p:sp>
      <p:pic>
        <p:nvPicPr>
          <p:cNvPr id="9" name="Picture 8" descr="convergence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194560"/>
            <a:ext cx="2651760" cy="1920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0" y="731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A1E28"/>
                </a:solidFill>
                <a:latin typeface="Arial"/>
              </a:defRPr>
            </a:pPr>
            <a:r>
              <a:t>HURT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05156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64"/>
              </a:spcAft>
              <a:defRPr sz="1100" b="1">
                <a:solidFill>
                  <a:srgbClr val="DA1E28"/>
                </a:solidFill>
                <a:latin typeface="Arial"/>
              </a:defRPr>
            </a:pPr>
            <a:r>
              <a:t>Circle Packing: -0.76%</a:t>
            </a:r>
          </a:p>
          <a:p>
            <a:pPr>
              <a:spcAft>
                <a:spcPts val="364"/>
              </a:spcAft>
              <a:defRPr sz="1100" b="0">
                <a:solidFill>
                  <a:srgbClr val="393939"/>
                </a:solidFill>
                <a:latin typeface="Arial"/>
              </a:defRPr>
            </a:pPr>
            <a:r>
              <a:t>GPT-5.2 + Opus | 1 metric</a:t>
            </a:r>
          </a:p>
          <a:p>
            <a:pPr>
              <a:spcAft>
                <a:spcPts val="364"/>
              </a:spcAft>
              <a:defRPr sz="1100" b="0">
                <a:solidFill>
                  <a:srgbClr val="000000"/>
                </a:solidFill>
                <a:latin typeface="Arial"/>
              </a:defRPr>
            </a:pPr>
            <a:r>
              <a:t>Single scalar — no tradeoffs to reason about</a:t>
            </a:r>
          </a:p>
        </p:txBody>
      </p:sp>
      <p:pic>
        <p:nvPicPr>
          <p:cNvPr id="12" name="Picture 11" descr="convergence_cur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194560"/>
            <a:ext cx="2651760" cy="19202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17920" y="41605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64"/>
              </a:spcAft>
              <a:defRPr sz="1100" b="1">
                <a:solidFill>
                  <a:srgbClr val="DA1E28"/>
                </a:solidFill>
                <a:latin typeface="Arial"/>
              </a:defRPr>
            </a:pPr>
            <a:r>
              <a:t>Func Min: -0.76%</a:t>
            </a:r>
          </a:p>
          <a:p>
            <a:pPr>
              <a:spcAft>
                <a:spcPts val="364"/>
              </a:spcAft>
              <a:defRPr sz="1100" b="0">
                <a:solidFill>
                  <a:srgbClr val="393939"/>
                </a:solidFill>
                <a:latin typeface="Arial"/>
              </a:defRPr>
            </a:pPr>
            <a:r>
              <a:t>Gemini Flash | 1 metric</a:t>
            </a:r>
          </a:p>
          <a:p>
            <a:pPr>
              <a:spcAft>
                <a:spcPts val="364"/>
              </a:spcAft>
              <a:defRPr sz="1100" b="0">
                <a:solidFill>
                  <a:srgbClr val="000000"/>
                </a:solidFill>
                <a:latin typeface="Arial"/>
              </a:defRPr>
            </a:pPr>
            <a:r>
              <a:t>Weak model: inject rate only 30-37%</a:t>
            </a:r>
          </a:p>
          <a:p>
            <a:pPr>
              <a:spcAft>
                <a:spcPts val="364"/>
              </a:spcAft>
              <a:defRPr sz="1100" b="0">
                <a:solidFill>
                  <a:srgbClr val="000000"/>
                </a:solidFill>
                <a:latin typeface="Arial"/>
              </a:defRPr>
            </a:pPr>
            <a:r>
              <a:t>Can't follow structured hypothesis format</a:t>
            </a:r>
          </a:p>
        </p:txBody>
      </p:sp>
      <p:pic>
        <p:nvPicPr>
          <p:cNvPr id="14" name="Picture 13" descr="convergence_curv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937760"/>
            <a:ext cx="20116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2D5E"/>
                </a:solidFill>
                <a:latin typeface="Arial"/>
              </a:defRPr>
            </a:pPr>
            <a:r>
              <a:t>V3: Convergence Analysis — How Treatment vs Control Evolve Over Time</a:t>
            </a:r>
          </a:p>
        </p:txBody>
      </p:sp>
      <p:pic>
        <p:nvPicPr>
          <p:cNvPr id="3" name="Picture 2" descr="convergence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77240"/>
            <a:ext cx="2834640" cy="2011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" y="278892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4A148"/>
                </a:solidFill>
                <a:latin typeface="Arial"/>
              </a:defRPr>
            </a:pPr>
            <a:r>
              <a:t>Web Scraper (+12.4%)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299008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93939"/>
                </a:solidFill>
                <a:latin typeface="Arial"/>
              </a:defRPr>
            </a:pPr>
            <a:r>
              <a:t>Treatment leads from iter 5, gap widens</a:t>
            </a:r>
          </a:p>
        </p:txBody>
      </p:sp>
      <p:pic>
        <p:nvPicPr>
          <p:cNvPr id="6" name="Picture 5" descr="convergence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777240"/>
            <a:ext cx="2834640" cy="2011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108960" y="278892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4A148"/>
                </a:solidFill>
                <a:latin typeface="Arial"/>
              </a:defRPr>
            </a:pPr>
            <a:r>
              <a:t>BLIS Router (+4.6%)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99008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93939"/>
                </a:solidFill>
                <a:latin typeface="Arial"/>
              </a:defRPr>
            </a:pPr>
            <a:r>
              <a:t>Steady treatment advantage, low variance</a:t>
            </a:r>
          </a:p>
        </p:txBody>
      </p:sp>
      <p:pic>
        <p:nvPicPr>
          <p:cNvPr id="9" name="Picture 8" descr="convergence_cur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777240"/>
            <a:ext cx="2834640" cy="2011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0" y="278892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832B"/>
                </a:solidFill>
                <a:latin typeface="Arial"/>
              </a:defRPr>
            </a:pPr>
            <a:r>
              <a:t>Rust Sort (tie)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99008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93939"/>
                </a:solidFill>
                <a:latin typeface="Arial"/>
              </a:defRPr>
            </a:pPr>
            <a:r>
              <a:t>Treatment faster to ceiling, control catches up</a:t>
            </a:r>
          </a:p>
        </p:txBody>
      </p:sp>
      <p:pic>
        <p:nvPicPr>
          <p:cNvPr id="12" name="Picture 11" descr="convergence_curv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246120"/>
            <a:ext cx="2834640" cy="20116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4400" y="525780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A1E28"/>
                </a:solidFill>
                <a:latin typeface="Arial"/>
              </a:defRPr>
            </a:pPr>
            <a:r>
              <a:t>Circle Packing (-0.76%)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5896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93939"/>
                </a:solidFill>
                <a:latin typeface="Arial"/>
              </a:defRPr>
            </a:pPr>
            <a:r>
              <a:t>Control leads throughout</a:t>
            </a:r>
          </a:p>
        </p:txBody>
      </p:sp>
      <p:pic>
        <p:nvPicPr>
          <p:cNvPr id="15" name="Picture 14" descr="convergence_curv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246120"/>
            <a:ext cx="2834640" cy="20116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29200" y="525780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A1E28"/>
                </a:solidFill>
                <a:latin typeface="Arial"/>
              </a:defRPr>
            </a:pPr>
            <a:r>
              <a:t>Func Min (-0.76%)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545896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93939"/>
                </a:solidFill>
                <a:latin typeface="Arial"/>
              </a:defRPr>
            </a:pPr>
            <a:r>
              <a:t>Control slightly better, both near-optimal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60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2D5E"/>
                </a:solidFill>
                <a:latin typeface="Arial"/>
              </a:defRPr>
            </a:pPr>
            <a:r>
              <a:t>Pattern: 4/5 experiments show treatment converging faster. On hard problems, the gap persists. On easy problems, control catches up.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2D5E"/>
                </a:solidFill>
                <a:latin typeface="Arial"/>
              </a:defRPr>
            </a:pPr>
            <a:r>
              <a:t>V4: Model Strength &amp; Hypothesis Pipeline Health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412480" cy="1786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Model Tier</a:t>
                      </a:r>
                    </a:p>
                  </a:txBody>
                  <a:tcPr>
                    <a:solidFill>
                      <a:srgbClr val="00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Hypos/iter</a:t>
                      </a:r>
                    </a:p>
                  </a:txBody>
                  <a:tcPr>
                    <a:solidFill>
                      <a:srgbClr val="00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Persist</a:t>
                      </a:r>
                    </a:p>
                  </a:txBody>
                  <a:tcPr>
                    <a:solidFill>
                      <a:srgbClr val="00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Inject</a:t>
                      </a:r>
                    </a:p>
                  </a:txBody>
                  <a:tcPr>
                    <a:solidFill>
                      <a:srgbClr val="00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Inherit</a:t>
                      </a:r>
                    </a:p>
                  </a:txBody>
                  <a:tcPr>
                    <a:solidFill>
                      <a:srgbClr val="00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Hypo Benefit?</a:t>
                      </a:r>
                    </a:p>
                  </a:txBody>
                  <a:tcPr>
                    <a:solidFill>
                      <a:srgbClr val="002D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Claude Opus/Sonnet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3.2–4.2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54–72%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88–100%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67–83%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Yes (BLIS +4.6%)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GPT-5.2 + Opus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3.1–4.2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54–63%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97–100%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70–79%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Marginal (too easy)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GPT-4o + Sonnet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3.2–3.8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72%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47–53%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76–83%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Yes (Web +12.4%)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Gemini Flash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2.8–3.1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45–52%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30–37%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48–55%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No (broken pipeline)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24688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2D5E"/>
                </a:solidFill>
                <a:latin typeface="Arial"/>
              </a:defRPr>
            </a:pPr>
            <a:r>
              <a:t>Problem Type × Model Strength Matrix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2834640"/>
          <a:ext cx="5029200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endParaRPr/>
                    </a:p>
                  </a:txBody>
                  <a:tcPr>
                    <a:solidFill>
                      <a:srgbClr val="00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Single Metric</a:t>
                      </a:r>
                    </a:p>
                  </a:txBody>
                  <a:tcPr>
                    <a:solidFill>
                      <a:srgbClr val="00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Multi-Metric</a:t>
                      </a:r>
                    </a:p>
                  </a:txBody>
                  <a:tcPr>
                    <a:solidFill>
                      <a:srgbClr val="002D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Strong (GPT-5.2)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Circle Pack: CONTROL wins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Rust Sort: TIE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Mid (GPT-4o, Sonnet)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Web Scraper: TREATMENT +12%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Mid-Strong (Opus+Sonnet)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BLIS Router: TREATMENT +5%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Weak (Gemini Flash)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Func Min: CONTROL wins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0" y="246888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64"/>
              </a:spcAft>
              <a:defRPr sz="1100" b="1">
                <a:solidFill>
                  <a:srgbClr val="002D5E"/>
                </a:solidFill>
                <a:latin typeface="Arial"/>
              </a:defRPr>
            </a:pPr>
            <a:r>
              <a:t>Key Findings:</a:t>
            </a:r>
          </a:p>
          <a:p>
            <a:pPr>
              <a:spcAft>
                <a:spcPts val="364"/>
              </a:spcAft>
              <a:defRPr sz="1100" b="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364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Inject rate is the critical metric:</a:t>
            </a:r>
          </a:p>
          <a:p>
            <a:pPr>
              <a:spcAft>
                <a:spcPts val="364"/>
              </a:spcAft>
              <a:defRPr sz="1100" b="0">
                <a:solidFill>
                  <a:srgbClr val="24A148"/>
                </a:solidFill>
                <a:latin typeface="Arial"/>
              </a:defRPr>
            </a:pPr>
            <a:r>
              <a:t>&gt;85%: Pipeline works well (Claude, GPT-5.2)</a:t>
            </a:r>
          </a:p>
          <a:p>
            <a:pPr>
              <a:spcAft>
                <a:spcPts val="364"/>
              </a:spcAft>
              <a:defRPr sz="1100" b="0">
                <a:solidFill>
                  <a:srgbClr val="FF832B"/>
                </a:solidFill>
                <a:latin typeface="Arial"/>
              </a:defRPr>
            </a:pPr>
            <a:r>
              <a:t>47-53%: Still beneficial if problem has room (GPT-4o)</a:t>
            </a:r>
          </a:p>
          <a:p>
            <a:pPr>
              <a:spcAft>
                <a:spcPts val="364"/>
              </a:spcAft>
              <a:defRPr sz="1100" b="0">
                <a:solidFill>
                  <a:srgbClr val="DA1E28"/>
                </a:solidFill>
                <a:latin typeface="Arial"/>
              </a:defRPr>
            </a:pPr>
            <a:r>
              <a:t>&lt;40%: Pipeline too broken to help (Gemini Flash)</a:t>
            </a:r>
          </a:p>
          <a:p>
            <a:pPr>
              <a:spcAft>
                <a:spcPts val="364"/>
              </a:spcAft>
              <a:defRPr sz="1100" b="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364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The Goldilocks Zone:</a:t>
            </a:r>
          </a:p>
          <a:p>
            <a:pPr>
              <a:spcAft>
                <a:spcPts val="364"/>
              </a:spcAft>
              <a:defRPr sz="1100" b="0">
                <a:solidFill>
                  <a:srgbClr val="24A148"/>
                </a:solidFill>
                <a:latin typeface="Arial"/>
              </a:defRPr>
            </a:pPr>
            <a:r>
              <a:t>Mid-tier model + multi-metric + hard problem</a:t>
            </a:r>
          </a:p>
          <a:p>
            <a:pPr>
              <a:spcAft>
                <a:spcPts val="364"/>
              </a:spcAft>
              <a:defRPr sz="1100" b="0">
                <a:solidFill>
                  <a:srgbClr val="24A148"/>
                </a:solidFill>
                <a:latin typeface="Arial"/>
              </a:defRPr>
            </a:pPr>
            <a:r>
              <a:t>= maximum hypothesis benefit</a:t>
            </a:r>
          </a:p>
          <a:p>
            <a:pPr>
              <a:spcAft>
                <a:spcPts val="364"/>
              </a:spcAft>
              <a:defRPr sz="1100" b="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364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Recommendation:</a:t>
            </a:r>
          </a:p>
          <a:p>
            <a:pPr>
              <a:spcAft>
                <a:spcPts val="364"/>
              </a:spcAft>
              <a:defRPr sz="1100" b="0">
                <a:solidFill>
                  <a:srgbClr val="000000"/>
                </a:solidFill>
                <a:latin typeface="Arial"/>
              </a:defRPr>
            </a:pPr>
            <a:r>
              <a:t>Monitor inject rate in first 5 iterations.</a:t>
            </a:r>
          </a:p>
          <a:p>
            <a:pPr>
              <a:spcAft>
                <a:spcPts val="364"/>
              </a:spcAft>
              <a:defRPr sz="1100" b="0">
                <a:solidFill>
                  <a:srgbClr val="000000"/>
                </a:solidFill>
                <a:latin typeface="Arial"/>
              </a:defRPr>
            </a:pPr>
            <a:r>
              <a:t>If &lt;40%, disable hypotheses to avoid overhead.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93776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2D5E"/>
                </a:solidFill>
                <a:latin typeface="Arial"/>
              </a:defRPr>
            </a:pPr>
            <a:r>
              <a:t>Hypotheses succeed in the multi-metric column — where there are genuine tradeoffs to reason about. Model strength matters less than feedback richness.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2D5E"/>
                </a:solidFill>
                <a:latin typeface="Arial"/>
              </a:defRPr>
            </a:pPr>
            <a:r>
              <a:t>V5: Bugs Found, Fixes &amp; Practical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A1E28"/>
                </a:solidFill>
                <a:latin typeface="Arial"/>
              </a:defRPr>
            </a:pPr>
            <a:r>
              <a:t>Bugs Discovered During 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64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1. Comment syntax for non-Python languages</a:t>
            </a:r>
          </a:p>
          <a:p>
            <a:pPr>
              <a:spcAft>
                <a:spcPts val="364"/>
              </a:spcAft>
              <a:defRPr sz="1100" b="0">
                <a:solidFill>
                  <a:srgbClr val="393939"/>
                </a:solidFill>
                <a:latin typeface="Arial"/>
              </a:defRPr>
            </a:pPr>
            <a:r>
              <a:t>Template showed # (Python) but Rust needs //</a:t>
            </a:r>
          </a:p>
          <a:p>
            <a:pPr>
              <a:spcAft>
                <a:spcPts val="364"/>
              </a:spcAft>
              <a:defRPr sz="1100" b="0">
                <a:solidFill>
                  <a:srgbClr val="393939"/>
                </a:solidFill>
                <a:latin typeface="Arial"/>
              </a:defRPr>
            </a:pPr>
            <a:r>
              <a:t>Caused ~2% compilation failures in Rust programs</a:t>
            </a:r>
          </a:p>
          <a:p>
            <a:pPr>
              <a:spcAft>
                <a:spcPts val="364"/>
              </a:spcAft>
              <a:defRPr sz="1100" b="0">
                <a:solidFill>
                  <a:srgbClr val="24A148"/>
                </a:solidFill>
                <a:latin typeface="Arial"/>
              </a:defRPr>
            </a:pPr>
            <a:r>
              <a:t>Fix: Language-aware template + ASCII-only rule</a:t>
            </a:r>
          </a:p>
          <a:p>
            <a:pPr>
              <a:spcAft>
                <a:spcPts val="364"/>
              </a:spcAft>
              <a:defRPr sz="1100" b="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364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2. Fitness tracking used wrong metric name</a:t>
            </a:r>
          </a:p>
          <a:p>
            <a:pPr>
              <a:spcAft>
                <a:spcPts val="364"/>
              </a:spcAft>
              <a:defRPr sz="1100" b="0">
                <a:solidFill>
                  <a:srgbClr val="393939"/>
                </a:solidFill>
                <a:latin typeface="Arial"/>
              </a:defRPr>
            </a:pPr>
            <a:r>
              <a:t>Evaluator returned 'score' not 'combined_score'</a:t>
            </a:r>
          </a:p>
          <a:p>
            <a:pPr>
              <a:spcAft>
                <a:spcPts val="364"/>
              </a:spcAft>
              <a:defRPr sz="1100" b="0">
                <a:solidFill>
                  <a:srgbClr val="393939"/>
                </a:solidFill>
                <a:latin typeface="Arial"/>
              </a:defRPr>
            </a:pPr>
            <a:r>
              <a:t>Fallback averaged ALL metrics including avg_time</a:t>
            </a:r>
          </a:p>
          <a:p>
            <a:pPr>
              <a:spcAft>
                <a:spcPts val="364"/>
              </a:spcAft>
              <a:defRPr sz="1100" b="0">
                <a:solidFill>
                  <a:srgbClr val="393939"/>
                </a:solidFill>
                <a:latin typeface="Arial"/>
              </a:defRPr>
            </a:pPr>
            <a:r>
              <a:t>Lower avg_time = lower fitness (backwards!)</a:t>
            </a:r>
          </a:p>
          <a:p>
            <a:pPr>
              <a:spcAft>
                <a:spcPts val="364"/>
              </a:spcAft>
              <a:defRPr sz="1100" b="0">
                <a:solidFill>
                  <a:srgbClr val="393939"/>
                </a:solidFill>
                <a:latin typeface="Arial"/>
              </a:defRPr>
            </a:pPr>
            <a:r>
              <a:t>Initial program appeared 'best' for 30 iterations</a:t>
            </a:r>
          </a:p>
          <a:p>
            <a:pPr>
              <a:spcAft>
                <a:spcPts val="364"/>
              </a:spcAft>
              <a:defRPr sz="1100" b="0">
                <a:solidFill>
                  <a:srgbClr val="24A148"/>
                </a:solidFill>
                <a:latin typeface="Arial"/>
              </a:defRPr>
            </a:pPr>
            <a:r>
              <a:t>Fix: Renamed to combined_score in evaluator</a:t>
            </a:r>
          </a:p>
          <a:p>
            <a:pPr>
              <a:spcAft>
                <a:spcPts val="364"/>
              </a:spcAft>
              <a:defRPr sz="1100" b="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364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3. Convergence CSV overwritten by sequential runs</a:t>
            </a:r>
          </a:p>
          <a:p>
            <a:pPr>
              <a:spcAft>
                <a:spcPts val="364"/>
              </a:spcAft>
              <a:defRPr sz="1100" b="0">
                <a:solidFill>
                  <a:srgbClr val="393939"/>
                </a:solidFill>
                <a:latin typeface="Arial"/>
              </a:defRPr>
            </a:pPr>
            <a:r>
              <a:t>Each run_experiment.py call overwrote the CSV</a:t>
            </a:r>
          </a:p>
          <a:p>
            <a:pPr>
              <a:spcAft>
                <a:spcPts val="364"/>
              </a:spcAft>
              <a:defRPr sz="1100" b="0">
                <a:solidFill>
                  <a:srgbClr val="24A148"/>
                </a:solidFill>
                <a:latin typeface="Arial"/>
              </a:defRPr>
            </a:pPr>
            <a:r>
              <a:t>Fix: Rebuild CSVs from checkpoint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7315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2D5E"/>
                </a:solidFill>
                <a:latin typeface="Arial"/>
              </a:defRPr>
            </a:pPr>
            <a:r>
              <a:t>Practical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5156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64"/>
              </a:spcAft>
              <a:defRPr sz="1100" b="1">
                <a:solidFill>
                  <a:srgbClr val="24A148"/>
                </a:solidFill>
                <a:latin typeface="Arial"/>
              </a:defRPr>
            </a:pPr>
            <a:r>
              <a:t>Enable hypotheses when:</a:t>
            </a:r>
          </a:p>
          <a:p>
            <a:pPr>
              <a:spcAft>
                <a:spcPts val="364"/>
              </a:spcAft>
              <a:defRPr sz="1100" b="0">
                <a:solidFill>
                  <a:srgbClr val="000000"/>
                </a:solidFill>
                <a:latin typeface="Arial"/>
              </a:defRPr>
            </a:pPr>
            <a:r>
              <a:t>• Multi-metric problem with genuine tradeoffs</a:t>
            </a:r>
          </a:p>
          <a:p>
            <a:pPr>
              <a:spcAft>
                <a:spcPts val="364"/>
              </a:spcAft>
              <a:defRPr sz="1100" b="0">
                <a:solidFill>
                  <a:srgbClr val="000000"/>
                </a:solidFill>
                <a:latin typeface="Arial"/>
              </a:defRPr>
            </a:pPr>
            <a:r>
              <a:t>• Model inject rate &gt; 40% (check in first 5 iters)</a:t>
            </a:r>
          </a:p>
          <a:p>
            <a:pPr>
              <a:spcAft>
                <a:spcPts val="364"/>
              </a:spcAft>
              <a:defRPr sz="1100" b="0">
                <a:solidFill>
                  <a:srgbClr val="000000"/>
                </a:solidFill>
                <a:latin typeface="Arial"/>
              </a:defRPr>
            </a:pPr>
            <a:r>
              <a:t>• Problem not solvable in &lt; 5 iterations</a:t>
            </a:r>
          </a:p>
          <a:p>
            <a:pPr>
              <a:spcAft>
                <a:spcPts val="364"/>
              </a:spcAft>
              <a:defRPr sz="1100" b="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364"/>
              </a:spcAft>
              <a:defRPr sz="1100" b="1">
                <a:solidFill>
                  <a:srgbClr val="DA1E28"/>
                </a:solidFill>
                <a:latin typeface="Arial"/>
              </a:defRPr>
            </a:pPr>
            <a:r>
              <a:t>Skip hypotheses when:</a:t>
            </a:r>
          </a:p>
          <a:p>
            <a:pPr>
              <a:spcAft>
                <a:spcPts val="364"/>
              </a:spcAft>
              <a:defRPr sz="1100" b="0">
                <a:solidFill>
                  <a:srgbClr val="000000"/>
                </a:solidFill>
                <a:latin typeface="Arial"/>
              </a:defRPr>
            </a:pPr>
            <a:r>
              <a:t>• Single scalar metric optimization</a:t>
            </a:r>
          </a:p>
          <a:p>
            <a:pPr>
              <a:spcAft>
                <a:spcPts val="364"/>
              </a:spcAft>
              <a:defRPr sz="1100" b="0">
                <a:solidFill>
                  <a:srgbClr val="000000"/>
                </a:solidFill>
                <a:latin typeface="Arial"/>
              </a:defRPr>
            </a:pPr>
            <a:r>
              <a:t>• Weak model (Gemini Flash, GPT-5-nano)</a:t>
            </a:r>
          </a:p>
          <a:p>
            <a:pPr>
              <a:spcAft>
                <a:spcPts val="364"/>
              </a:spcAft>
              <a:defRPr sz="1100" b="0">
                <a:solidFill>
                  <a:srgbClr val="000000"/>
                </a:solidFill>
                <a:latin typeface="Arial"/>
              </a:defRPr>
            </a:pPr>
            <a:r>
              <a:t>• Problem trivially easy for the chosen model</a:t>
            </a:r>
          </a:p>
          <a:p>
            <a:pPr>
              <a:spcAft>
                <a:spcPts val="364"/>
              </a:spcAft>
              <a:defRPr sz="1100" b="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364"/>
              </a:spcAft>
              <a:defRPr sz="1100" b="1">
                <a:solidFill>
                  <a:srgbClr val="0053A0"/>
                </a:solidFill>
                <a:latin typeface="Arial"/>
              </a:defRPr>
            </a:pPr>
            <a:r>
              <a:t>Best model pairing:</a:t>
            </a:r>
          </a:p>
          <a:p>
            <a:pPr>
              <a:spcAft>
                <a:spcPts val="364"/>
              </a:spcAft>
              <a:defRPr sz="1100" b="0">
                <a:solidFill>
                  <a:srgbClr val="000000"/>
                </a:solidFill>
                <a:latin typeface="Arial"/>
              </a:defRPr>
            </a:pPr>
            <a:r>
              <a:t>• Primary: mid-tier (GPT-4o, Sonnet) — benefits most</a:t>
            </a:r>
          </a:p>
          <a:p>
            <a:pPr>
              <a:spcAft>
                <a:spcPts val="364"/>
              </a:spcAft>
              <a:defRPr sz="1100" b="0">
                <a:solidFill>
                  <a:srgbClr val="000000"/>
                </a:solidFill>
                <a:latin typeface="Arial"/>
              </a:defRPr>
            </a:pPr>
            <a:r>
              <a:t>• Secondary: strong (Opus) — provides diversity</a:t>
            </a:r>
          </a:p>
          <a:p>
            <a:pPr>
              <a:spcAft>
                <a:spcPts val="364"/>
              </a:spcAft>
              <a:defRPr sz="1100" b="0">
                <a:solidFill>
                  <a:srgbClr val="000000"/>
                </a:solidFill>
                <a:latin typeface="Arial"/>
              </a:defRPr>
            </a:pPr>
            <a:r>
              <a:t>• Avoid: frontier models on easy problems (waste)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3657600"/>
          <a:ext cx="841248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Experiment</a:t>
                      </a:r>
                    </a:p>
                  </a:txBody>
                  <a:tcPr>
                    <a:solidFill>
                      <a:srgbClr val="00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00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Key Takeaway</a:t>
                      </a:r>
                    </a:p>
                  </a:txBody>
                  <a:tcPr>
                    <a:solidFill>
                      <a:srgbClr val="002D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Web Scraper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+12.4%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Multi-metric + mid-tier model = best combo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BLIS Router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+4.6%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Hard problem + rich feedback = sustained advantage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Rust Sort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Tie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Faster convergence but ceiling too 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Circle Packing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-0.76%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Single metric — nothing to reason about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Func Minimization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-0.76%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Weak model breaks hypothesis pipeline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57607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2D5E"/>
                </a:solidFill>
                <a:latin typeface="Arial"/>
              </a:defRPr>
            </a:pPr>
            <a:r>
              <a:t>Bottom line: Hypothesis-driven evolution is not universally better — it shines on multi-metric problems with capable models.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967</Words>
  <Application>Microsoft Macintosh PowerPoint</Application>
  <PresentationFormat>Custom</PresentationFormat>
  <Paragraphs>190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Mert Toslali</cp:lastModifiedBy>
  <cp:revision>5</cp:revision>
  <dcterms:created xsi:type="dcterms:W3CDTF">2013-01-27T09:14:16Z</dcterms:created>
  <dcterms:modified xsi:type="dcterms:W3CDTF">2026-03-02T19:25:51Z</dcterms:modified>
  <cp:category/>
</cp:coreProperties>
</file>