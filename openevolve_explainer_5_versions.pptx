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VERSION 1 — 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OpenEvolve: Teaching AI to Write Better Code</a:t>
            </a:r>
            <a:br/>
            <a:r>
              <a:t>Through Evolutionary Trial and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9A7"/>
                </a:solidFill>
                <a:latin typeface="Calibri"/>
              </a:defRPr>
            </a:pPr>
            <a:r>
              <a:t>An open-source framework inspired by Google DeepMind's AlphaEvolve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1828800" cy="10972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1. Seed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Calibri"/>
              </a:defRPr>
            </a:pPr>
            <a:r>
              <a:t>Start with your</a:t>
            </a:r>
            <a:br/>
            <a:r>
              <a:t>initial program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14600" y="2971800"/>
            <a:ext cx="365760" cy="27432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71800" y="2560320"/>
            <a:ext cx="1828800" cy="1097280"/>
          </a:xfrm>
          <a:prstGeom prst="round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2. LLM Mutates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37490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Calibri"/>
              </a:defRPr>
            </a:pPr>
            <a:r>
              <a:t>AI suggests</a:t>
            </a:r>
            <a:br/>
            <a:r>
              <a:t>code changes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46320" y="2971800"/>
            <a:ext cx="365760" cy="274320"/>
          </a:xfrm>
          <a:prstGeom prst="rightArrow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0" y="2560320"/>
            <a:ext cx="1828800" cy="10972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3. Evaluate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7490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Calibri"/>
              </a:defRPr>
            </a:pPr>
            <a:r>
              <a:t>Test the new</a:t>
            </a:r>
            <a:br/>
            <a:r>
              <a:t>code automatically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78040" y="2971800"/>
            <a:ext cx="365760" cy="27432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35240" y="2560320"/>
            <a:ext cx="1828800" cy="1097280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4. Select Best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7490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Calibri"/>
              </a:defRPr>
            </a:pPr>
            <a:r>
              <a:t>Keep winners,</a:t>
            </a:r>
            <a:br/>
            <a:r>
              <a:t>drop losers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9760" y="2971800"/>
            <a:ext cx="365760" cy="274320"/>
          </a:xfrm>
          <a:prstGeom prst="rightArrow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66959" y="2560320"/>
            <a:ext cx="1828800" cy="109728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5. Repeat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59" y="3749039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Calibri"/>
              </a:defRPr>
            </a:pPr>
            <a:r>
              <a:t>Evolve over</a:t>
            </a:r>
            <a:br/>
            <a:r>
              <a:t>1000s of rounds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78639" y="283463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loop back</a:t>
            </a:r>
            <a:br/>
            <a:r>
              <a:t>to step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46320"/>
            <a:ext cx="2651760" cy="457200"/>
          </a:xfrm>
          <a:prstGeom prst="roundRect">
            <a:avLst/>
          </a:prstGeom>
          <a:solidFill>
            <a:srgbClr val="2A2A4E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Any 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49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Python, Rust, R, Go...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39" y="4846320"/>
            <a:ext cx="2651760" cy="457200"/>
          </a:xfrm>
          <a:prstGeom prst="roundRect">
            <a:avLst/>
          </a:prstGeom>
          <a:solidFill>
            <a:srgbClr val="2A2A4E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Parallel Evolution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5349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Many programs tested at once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846320"/>
            <a:ext cx="2651760" cy="457200"/>
          </a:xfrm>
          <a:prstGeom prst="roundRect">
            <a:avLst/>
          </a:prstGeom>
          <a:solidFill>
            <a:srgbClr val="2A2A4E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Smart Diversity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49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Explores many solutions, not just 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59" y="4846320"/>
            <a:ext cx="2651760" cy="457200"/>
          </a:xfrm>
          <a:prstGeom prst="roundRect">
            <a:avLst/>
          </a:prstGeom>
          <a:solidFill>
            <a:srgbClr val="2A2A4E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C9A7"/>
                </a:solidFill>
                <a:latin typeface="Calibri"/>
              </a:defRPr>
            </a:pPr>
            <a:r>
              <a:t>Auto-Improving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59" y="5349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Gets better over time, no hand-tuning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93D"/>
                </a:solidFill>
                <a:latin typeface="Calibri"/>
              </a:defRPr>
            </a:pPr>
            <a:r>
              <a:t>Think of it as "survival of the fittest" — but for code.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VERSION 2 — The Recipe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D51"/>
                </a:solidFill>
                <a:latin typeface="Calibri"/>
              </a:defRPr>
            </a:pPr>
            <a:r>
              <a:t>OpenEvolve in 60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Calibri"/>
              </a:defRPr>
            </a:pPr>
            <a:r>
              <a:t>An evolutionary coding agent that uses LLMs to make your code better — automatically.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t>What You Provide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68880"/>
            <a:ext cx="411480" cy="4114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688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51"/>
                </a:solidFill>
                <a:latin typeface="Calibri"/>
              </a:defRPr>
            </a:pPr>
            <a:r>
              <a:t>Your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2491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The starting program to improve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46120"/>
            <a:ext cx="411480" cy="4114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461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51"/>
                </a:solidFill>
                <a:latin typeface="Calibri"/>
              </a:defRPr>
            </a:pPr>
            <a:r>
              <a:t>An evaluator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021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A script that scores how good the code is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23360"/>
            <a:ext cx="411480" cy="41148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0233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D51"/>
                </a:solidFill>
                <a:latin typeface="Calibri"/>
              </a:defRPr>
            </a:pPr>
            <a:r>
              <a:t>A config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7939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Settings: which LLMs to use, how many rounds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14800" y="3474720"/>
            <a:ext cx="548640" cy="45720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46320" y="1828800"/>
            <a:ext cx="34747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9202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CFF"/>
                </a:solidFill>
                <a:latin typeface="Calibri"/>
              </a:defRPr>
            </a:pPr>
            <a:r>
              <a:t>What OpenEvolve Does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0" y="2423160"/>
            <a:ext cx="365760" cy="36576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4231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51"/>
                </a:solidFill>
                <a:latin typeface="Calibri"/>
              </a:defRPr>
            </a:pPr>
            <a:r>
              <a:t>Picks parents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2642615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Selects promising code from the population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0" y="3063239"/>
            <a:ext cx="365760" cy="36576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3063239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51"/>
                </a:solidFill>
                <a:latin typeface="Calibri"/>
              </a:defRPr>
            </a:pPr>
            <a:r>
              <a:t>Asks LLMs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2826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Multiple AI models suggest improvements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0" y="3703320"/>
            <a:ext cx="365760" cy="36576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370332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51"/>
                </a:solidFill>
                <a:latin typeface="Calibri"/>
              </a:defRPr>
            </a:pPr>
            <a:r>
              <a:t>Tests changes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392277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Runs your evaluator in a 3-stage cascade</a:t>
            </a:r>
          </a:p>
        </p:txBody>
      </p:sp>
      <p:sp>
        <p:nvSpPr>
          <p:cNvPr id="28" name="Oval 27"/>
          <p:cNvSpPr/>
          <p:nvPr/>
        </p:nvSpPr>
        <p:spPr>
          <a:xfrm>
            <a:off x="5029200" y="4343400"/>
            <a:ext cx="365760" cy="36576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43434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51"/>
                </a:solidFill>
                <a:latin typeface="Calibri"/>
              </a:defRPr>
            </a:pPr>
            <a:r>
              <a:t>Keeps the best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456285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Winners enter the population, losers are dropped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0" y="4983479"/>
            <a:ext cx="365760" cy="36576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983479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51"/>
                </a:solidFill>
                <a:latin typeface="Calibri"/>
              </a:defRPr>
            </a:pPr>
            <a:r>
              <a:t>Repeats 1000x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520293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Evolves through many generations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503920" y="3474720"/>
            <a:ext cx="548640" cy="457200"/>
          </a:xfrm>
          <a:prstGeom prst="rightArrow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235440" y="1828800"/>
            <a:ext cx="2560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Calibri"/>
              </a:defRPr>
            </a:pPr>
            <a:r>
              <a:t>What You Get</a:t>
            </a:r>
          </a:p>
        </p:txBody>
      </p:sp>
      <p:sp>
        <p:nvSpPr>
          <p:cNvPr id="37" name="Oval 36"/>
          <p:cNvSpPr/>
          <p:nvPr/>
        </p:nvSpPr>
        <p:spPr>
          <a:xfrm>
            <a:off x="9418320" y="246888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24688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51"/>
                </a:solidFill>
                <a:latin typeface="Calibri"/>
              </a:defRPr>
            </a:pPr>
            <a:r>
              <a:t>Better 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26974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Optimized program</a:t>
            </a:r>
          </a:p>
        </p:txBody>
      </p:sp>
      <p:sp>
        <p:nvSpPr>
          <p:cNvPr id="40" name="Oval 39"/>
          <p:cNvSpPr/>
          <p:nvPr/>
        </p:nvSpPr>
        <p:spPr>
          <a:xfrm>
            <a:off x="9418320" y="324612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32461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51"/>
                </a:solidFill>
                <a:latin typeface="Calibri"/>
              </a:defRPr>
            </a:pPr>
            <a:r>
              <a:t>Metrics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34747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Performance scores</a:t>
            </a:r>
          </a:p>
        </p:txBody>
      </p:sp>
      <p:sp>
        <p:nvSpPr>
          <p:cNvPr id="43" name="Oval 42"/>
          <p:cNvSpPr/>
          <p:nvPr/>
        </p:nvSpPr>
        <p:spPr>
          <a:xfrm>
            <a:off x="9418320" y="402336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402336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51"/>
                </a:solidFill>
                <a:latin typeface="Calibri"/>
              </a:defRPr>
            </a:pPr>
            <a:r>
              <a:t>Diversity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21240" y="425196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Multiple good solutions</a:t>
            </a:r>
          </a:p>
        </p:txBody>
      </p:sp>
      <p:sp>
        <p:nvSpPr>
          <p:cNvPr id="46" name="Oval 45"/>
          <p:cNvSpPr/>
          <p:nvPr/>
        </p:nvSpPr>
        <p:spPr>
          <a:xfrm>
            <a:off x="9418320" y="480060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48006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B1D51"/>
                </a:solidFill>
                <a:latin typeface="Calibri"/>
              </a:defRPr>
            </a:pPr>
            <a:r>
              <a:t>Checkpoints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21240" y="502920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Calibri"/>
              </a:defRPr>
            </a:pPr>
            <a:r>
              <a:t>Resume anytime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85CFF"/>
                </a:solidFill>
                <a:latin typeface="Calibri"/>
              </a:defRPr>
            </a:pPr>
            <a:r>
              <a:t>Like having a tireless team of programmers who keep improving your code — powered by LLMs.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VERSION 3 — The Biology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CC71"/>
                </a:solidFill>
                <a:latin typeface="Calibri"/>
              </a:defRPr>
            </a:pPr>
            <a:r>
              <a:t>OpenEvolve: Natural Selection for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D0A0"/>
                </a:solidFill>
                <a:latin typeface="Calibri"/>
              </a:defRPr>
            </a:pPr>
            <a:r>
              <a:t>The same evolutionary process that created life on Earth — now applied to software.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029200" cy="548640"/>
          </a:xfrm>
          <a:prstGeom prst="roundRect">
            <a:avLst/>
          </a:prstGeom>
          <a:solidFill>
            <a:srgbClr val="1A3A1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ECC71"/>
                </a:solidFill>
                <a:latin typeface="Calibri"/>
              </a:defRPr>
            </a:pPr>
            <a:r>
              <a:t>In Nature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029200" cy="548640"/>
          </a:xfrm>
          <a:prstGeom prst="roundRect">
            <a:avLst/>
          </a:prstGeom>
          <a:solidFill>
            <a:srgbClr val="1A1A3A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96D6"/>
                </a:solidFill>
                <a:latin typeface="Calibri"/>
              </a:defRPr>
            </a:pPr>
            <a:r>
              <a:t>In OpenEvolve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2011680" cy="384048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Organism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243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99999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06040"/>
            <a:ext cx="2194560" cy="384048"/>
          </a:xfrm>
          <a:prstGeom prst="round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96D6"/>
                </a:solidFill>
                <a:latin typeface="Calibri"/>
              </a:defRPr>
            </a:pPr>
            <a:r>
              <a:t>A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624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Each code version is a 'creature'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81528"/>
            <a:ext cx="2011680" cy="384048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DNA / Genes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9981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99999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081528"/>
            <a:ext cx="2194560" cy="384048"/>
          </a:xfrm>
          <a:prstGeom prst="round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96D6"/>
                </a:solidFill>
                <a:latin typeface="Calibri"/>
              </a:defRPr>
            </a:pPr>
            <a:r>
              <a:t>Source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09981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The instructions that define behaviour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57016"/>
            <a:ext cx="2011680" cy="384048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Mutation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7530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99999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557016"/>
            <a:ext cx="2194560" cy="384048"/>
          </a:xfrm>
          <a:prstGeom prst="round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96D6"/>
                </a:solidFill>
                <a:latin typeface="Calibri"/>
              </a:defRPr>
            </a:pPr>
            <a:r>
              <a:t>LLM-Generated Edits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57530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AI models suggest random improvements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32504"/>
            <a:ext cx="2011680" cy="384048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Natural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050791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99999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032504"/>
            <a:ext cx="2194560" cy="384048"/>
          </a:xfrm>
          <a:prstGeom prst="round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96D6"/>
                </a:solidFill>
                <a:latin typeface="Calibri"/>
              </a:defRPr>
            </a:pPr>
            <a:r>
              <a:t>Evaluation Cascade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050791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Test in stages — fail fast, keep winners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07992"/>
            <a:ext cx="2011680" cy="384048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Population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52627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99999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507992"/>
            <a:ext cx="2194560" cy="384048"/>
          </a:xfrm>
          <a:prstGeom prst="round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96D6"/>
                </a:solidFill>
                <a:latin typeface="Calibri"/>
              </a:defRPr>
            </a:pPr>
            <a:r>
              <a:t>MAP-Elites 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5262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A diverse pool of candidate programs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983480"/>
            <a:ext cx="2011680" cy="384048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Islands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0017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99999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983480"/>
            <a:ext cx="2194560" cy="384048"/>
          </a:xfrm>
          <a:prstGeom prst="round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96D6"/>
                </a:solidFill>
                <a:latin typeface="Calibri"/>
              </a:defRPr>
            </a:pPr>
            <a:r>
              <a:t>Island Populations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0017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Separate groups evolve independently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458968"/>
            <a:ext cx="2011680" cy="384048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Migration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47725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99999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5458968"/>
            <a:ext cx="2194560" cy="384048"/>
          </a:xfrm>
          <a:prstGeom prst="round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96D6"/>
                </a:solidFill>
                <a:latin typeface="Calibri"/>
              </a:defRPr>
            </a:pPr>
            <a:r>
              <a:t>Best-Program Sharing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47725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Top performers spread across islands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934456"/>
            <a:ext cx="2011680" cy="384048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t>Survival of Fittest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9527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99999"/>
                </a:solidFill>
                <a:latin typeface="Calibri"/>
              </a:defRPr>
            </a:pPr>
            <a:r>
              <a:t>=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5934456"/>
            <a:ext cx="2194560" cy="384048"/>
          </a:xfrm>
          <a:prstGeom prst="round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96D6"/>
                </a:solidFill>
                <a:latin typeface="Calibri"/>
              </a:defRPr>
            </a:pPr>
            <a:r>
              <a:t>Highest Score Wins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59527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Better programs replace weaker ones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D93D"/>
                </a:solidFill>
                <a:latin typeface="Calibri"/>
              </a:defRPr>
            </a:pPr>
            <a:r>
              <a:t>Result: After thousands of generations, your code evolves into something far better than the original.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VERSION 4 —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How OpenEvolve Works: 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93D"/>
                </a:solidFill>
                <a:latin typeface="Calibri"/>
              </a:defRPr>
            </a:pPr>
            <a:r>
              <a:t>EVOLUTION LOOP  (runs 1000s of times in parallel)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286000"/>
            <a:ext cx="1828800" cy="10972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Sample</a:t>
            </a:r>
            <a:br/>
            <a:r>
              <a:t>Parent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29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8"/>
                </a:solidFill>
                <a:latin typeface="Calibri"/>
              </a:defRPr>
            </a:pPr>
            <a:r>
              <a:t>Pick a promising</a:t>
            </a:r>
            <a:br/>
            <a:r>
              <a:t>program from the</a:t>
            </a:r>
            <a:br/>
            <a:r>
              <a:t>population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286000"/>
            <a:ext cx="1828800" cy="1097280"/>
          </a:xfrm>
          <a:prstGeom prst="round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  <a:br/>
            <a:r>
              <a:t>Mutate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429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8"/>
                </a:solidFill>
                <a:latin typeface="Calibri"/>
              </a:defRPr>
            </a:pPr>
            <a:r>
              <a:t>AI models suggest</a:t>
            </a:r>
            <a:br/>
            <a:r>
              <a:t>code edits</a:t>
            </a:r>
            <a:br/>
            <a:r>
              <a:t>(diff or rewrite)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286000"/>
            <a:ext cx="1828800" cy="109728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Evaluate</a:t>
            </a:r>
            <a:br/>
            <a:r>
              <a:t>(3 stages)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429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8"/>
                </a:solidFill>
                <a:latin typeface="Calibri"/>
              </a:defRPr>
            </a:pPr>
            <a:r>
              <a:t>Quick check</a:t>
            </a:r>
            <a:br/>
            <a:r>
              <a:t>Performance test</a:t>
            </a:r>
            <a:br/>
            <a:r>
              <a:t>Full benchmark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4114800"/>
            <a:ext cx="1828800" cy="109728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Store in</a:t>
            </a:r>
            <a:br/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2578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8E8"/>
                </a:solidFill>
                <a:latin typeface="Calibri"/>
              </a:defRPr>
            </a:pPr>
            <a:r>
              <a:t>MAP-Elites grid</a:t>
            </a:r>
            <a:br/>
            <a:r>
              <a:t>keeps diverse</a:t>
            </a:r>
            <a:br/>
            <a:r>
              <a:t>solutions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77639" y="2651760"/>
            <a:ext cx="640080" cy="27432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812280" y="2651760"/>
            <a:ext cx="640080" cy="274320"/>
          </a:xfrm>
          <a:prstGeom prst="rightArrow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  <a:latin typeface="Calibri"/>
              </a:defRPr>
            </a:pPr>
            <a:r>
              <a:t>v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766560" y="3474720"/>
            <a:ext cx="1600200" cy="1005840"/>
          </a:xfrm>
          <a:prstGeom prst="line">
            <a:avLst/>
          </a:prstGeom>
          <a:ln w="254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83280" y="4389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9A7"/>
                </a:solidFill>
                <a:latin typeface="Calibri"/>
              </a:defRPr>
            </a:pPr>
            <a:r>
              <a:t>&lt;---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931920" y="4663440"/>
            <a:ext cx="822960" cy="0"/>
          </a:xfrm>
          <a:prstGeom prst="line">
            <a:avLst/>
          </a:prstGeom>
          <a:ln w="2540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2926080" y="2926080"/>
            <a:ext cx="1005840" cy="1737360"/>
          </a:xfrm>
          <a:prstGeom prst="line">
            <a:avLst/>
          </a:prstGeom>
          <a:ln w="25400">
            <a:solidFill>
              <a:srgbClr val="00C9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6012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286000"/>
            <a:ext cx="2286000" cy="320040"/>
          </a:xfrm>
          <a:prstGeom prst="round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LLM Ensemble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63347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Multiple AI models</a:t>
            </a:r>
            <a:br/>
            <a:r>
              <a:t>(GPT-4, Claude, etc.)</a:t>
            </a:r>
            <a:br/>
            <a:r>
              <a:t>vote on best changes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3291840"/>
            <a:ext cx="2286000" cy="32004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MAP-Elites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6393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Grid of solutions:</a:t>
            </a:r>
            <a:br/>
            <a:r>
              <a:t>each cell holds the</a:t>
            </a:r>
            <a:br/>
            <a:r>
              <a:t>best for that niche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4297680"/>
            <a:ext cx="2286000" cy="3200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Islands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64515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4 separate populations</a:t>
            </a:r>
            <a:br/>
            <a:r>
              <a:t>evolve independently,</a:t>
            </a:r>
            <a:br/>
            <a:r>
              <a:t>share winners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5303520"/>
            <a:ext cx="2286000" cy="3200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Cascade 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65099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8E8"/>
                </a:solidFill>
                <a:latin typeface="Calibri"/>
              </a:defRPr>
            </a:pPr>
            <a:r>
              <a:t>Stage 1: syntax check</a:t>
            </a:r>
            <a:br/>
            <a:r>
              <a:t>Stage 2: basic test</a:t>
            </a:r>
            <a:br/>
            <a:r>
              <a:t>Stage 3: full suite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D93D"/>
                </a:solidFill>
                <a:latin typeface="Calibri"/>
              </a:defRPr>
            </a:pPr>
            <a:r>
              <a:t>All of this runs in parallel worker processes — each iteration is independent and fast.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VERSION 5 — The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OpenEvolve: From Good Code to Great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5486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3474720" cy="868680"/>
          </a:xfrm>
          <a:prstGeom prst="roundRect">
            <a:avLst/>
          </a:prstGeom>
          <a:solidFill>
            <a:srgbClr val="122A5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50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Manual optimization is slow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Engineers spend weeks tuning algorithms by hand.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3474720" cy="868680"/>
          </a:xfrm>
          <a:prstGeom prst="roundRect">
            <a:avLst/>
          </a:prstGeom>
          <a:solidFill>
            <a:srgbClr val="122A5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456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Local maxima trap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673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Humans get stuck on one approach and stop exploring alternatives.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89120"/>
            <a:ext cx="3474720" cy="868680"/>
          </a:xfrm>
          <a:prstGeom prst="roundRect">
            <a:avLst/>
          </a:prstGeom>
          <a:solidFill>
            <a:srgbClr val="122A5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4622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Can't try 1000 ideas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773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People can only test a handful of variations — not thousands.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3474720" cy="868680"/>
          </a:xfrm>
          <a:prstGeom prst="roundRect">
            <a:avLst/>
          </a:prstGeom>
          <a:solidFill>
            <a:srgbClr val="122A5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468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Language-specific expertise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7790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Optimizing Rust kernels requires different skills than Python ML code.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41647" y="3200400"/>
            <a:ext cx="228600" cy="27432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79" y="1645920"/>
            <a:ext cx="3474720" cy="5486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2377440"/>
            <a:ext cx="3474720" cy="868680"/>
          </a:xfrm>
          <a:prstGeom prst="roundRect">
            <a:avLst/>
          </a:prstGeom>
          <a:solidFill>
            <a:srgbClr val="122A5E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450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LLMs generate variations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7614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AI proposes code changes — diffs or full rewrites — at scale.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383280"/>
            <a:ext cx="3474720" cy="868680"/>
          </a:xfrm>
          <a:prstGeom prst="roundRect">
            <a:avLst/>
          </a:prstGeom>
          <a:solidFill>
            <a:srgbClr val="122A5E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456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Diverse population (MAP-Elites)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7673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Maintains many different solutions, not just one — avoids local maxima.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4389120"/>
            <a:ext cx="3474720" cy="868680"/>
          </a:xfrm>
          <a:prstGeom prst="roundRect">
            <a:avLst/>
          </a:prstGeom>
          <a:solidFill>
            <a:srgbClr val="122A5E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4622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Automated evaluation cascade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773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Fast 3-stage testing: quick check → performance test → full benchmark.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5394960"/>
            <a:ext cx="3474720" cy="868680"/>
          </a:xfrm>
          <a:prstGeom prst="roundRect">
            <a:avLst/>
          </a:prstGeom>
          <a:solidFill>
            <a:srgbClr val="122A5E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5468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Calibri"/>
              </a:defRPr>
            </a:pPr>
            <a:r>
              <a:t>Language-agnostic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7790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Works with Python, Rust, R, Go — any language with an evaluator.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790688" y="3200400"/>
            <a:ext cx="228600" cy="27432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19" y="1645920"/>
            <a:ext cx="3474720" cy="54864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IMPACT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2377440"/>
            <a:ext cx="3474720" cy="868680"/>
          </a:xfrm>
          <a:prstGeom prst="roundRect">
            <a:avLst/>
          </a:prstGeom>
          <a:solidFill>
            <a:srgbClr val="122A5E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24505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Calibri"/>
              </a:defRPr>
            </a:pPr>
            <a:r>
              <a:t>Superhuman optimization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27614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Discovers solutions humans wouldn't think of — like AlphaGo's Move 37.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3383280"/>
            <a:ext cx="3474720" cy="868680"/>
          </a:xfrm>
          <a:prstGeom prst="roundRect">
            <a:avLst/>
          </a:prstGeom>
          <a:solidFill>
            <a:srgbClr val="122A5E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79" y="3456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Calibri"/>
              </a:defRPr>
            </a:pPr>
            <a:r>
              <a:t>Hands-free improvement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37673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Set it running overnight — wake up to better code.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19" y="4389120"/>
            <a:ext cx="3474720" cy="868680"/>
          </a:xfrm>
          <a:prstGeom prst="roundRect">
            <a:avLst/>
          </a:prstGeom>
          <a:solidFill>
            <a:srgbClr val="122A5E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79" y="44622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Calibri"/>
              </a:defRPr>
            </a:pPr>
            <a:r>
              <a:t>Reproducible &amp; checkpointed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4773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Every step is saved. Resume, inspect, or roll back anytime.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19" y="5394960"/>
            <a:ext cx="3474720" cy="868680"/>
          </a:xfrm>
          <a:prstGeom prst="roundRect">
            <a:avLst/>
          </a:prstGeom>
          <a:solidFill>
            <a:srgbClr val="122A5E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79" y="5468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Calibri"/>
              </a:defRPr>
            </a:pPr>
            <a:r>
              <a:t>Open source &amp; extensible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57790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8E8"/>
                </a:solidFill>
                <a:latin typeface="Calibri"/>
              </a:defRPr>
            </a:pPr>
            <a:r>
              <a:t>Built on OpenAI-compatible APIs. Plug in any LLM. MIT licensed.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93D"/>
                </a:solidFill>
                <a:latin typeface="Calibri"/>
              </a:defRPr>
            </a:pPr>
            <a:r>
              <a:t>OpenEvolve = evolutionary pressure + LLM creativity + automated testing, running at machine speed.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